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80" r:id="rId5"/>
    <p:sldId id="281" r:id="rId6"/>
    <p:sldId id="282" r:id="rId7"/>
    <p:sldId id="283" r:id="rId8"/>
    <p:sldId id="284" r:id="rId9"/>
    <p:sldId id="285" r:id="rId10"/>
    <p:sldId id="287" r:id="rId11"/>
    <p:sldId id="288" r:id="rId12"/>
    <p:sldId id="289" r:id="rId13"/>
    <p:sldId id="290" r:id="rId14"/>
    <p:sldId id="291" r:id="rId15"/>
    <p:sldId id="293" r:id="rId16"/>
    <p:sldId id="294" r:id="rId17"/>
    <p:sldId id="295" r:id="rId18"/>
    <p:sldId id="292" r:id="rId19"/>
    <p:sldId id="29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4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157ED-1579-43A6-B858-3B892B59CE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29AB7-5B64-4552-B670-35FB9F45FF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221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Mixed precision </a:t>
            </a:r>
            <a:r>
              <a:rPr lang="ko-KR" altLang="en-US" dirty="0"/>
              <a:t>논문 </a:t>
            </a:r>
            <a:r>
              <a:rPr lang="en-US" altLang="ko-KR" dirty="0"/>
              <a:t>+ dynamic quantization, static quantization </a:t>
            </a:r>
            <a:r>
              <a:rPr lang="ko-KR" altLang="en-US" dirty="0"/>
              <a:t>개념 </a:t>
            </a:r>
            <a:r>
              <a:rPr lang="en-US" altLang="ko-KR" dirty="0"/>
              <a:t>background </a:t>
            </a:r>
            <a:r>
              <a:rPr lang="ko-KR" altLang="en-US" dirty="0"/>
              <a:t>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29AB7-5B64-4552-B670-35FB9F45FF2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950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29AB7-5B64-4552-B670-35FB9F45FF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46A65-7727-AC12-EBCC-BC555433D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460CAE-E0FD-FBF1-8521-D322AE15F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4A452B-DD07-5647-9753-2DA1FBDB0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68A36-3F9E-4C94-77A1-249CDA59D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29AB7-5B64-4552-B670-35FB9F45FF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037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3D834-43E1-6C5E-2097-892179A5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381CE1-B273-1077-A16A-9CCE3BD95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F188C2-FCF4-1A97-F442-5B951FF3D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073CA7-3C09-D24F-077C-55319F4E9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29AB7-5B64-4552-B670-35FB9F45FF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299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42438-10D7-3B23-1A10-8CA09A0D7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CD13CB-EA91-CC8C-EF27-9E75A6170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0F6557-AC06-7C90-103B-145BE2CC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440E9-B09F-CE5F-36A6-0FD9F265E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8596C2-FD2B-5052-49B6-953F8736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74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3BB27-886D-06E4-D951-C2BC7739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B17022-C1C7-BD75-1006-68D80FDF6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2E956-7513-5B5B-E7F1-7E9AF531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AF43E2-2E28-B1A4-6ABC-388B866D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46E9C-F7D0-0C08-D060-9809CC4D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18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C5720-15E7-84A3-1612-2F99E857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62AAC4-D26B-CE41-7808-29FC7B3EE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193B3-C05D-6CCC-EF71-5A77ED06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EB9FD-BFCC-EF37-B481-DC919FC0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08CD19-DACD-402C-0B8F-62161D02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75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5ABC5-7E1A-6160-CAE5-D3F469D4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1997EE-33ED-B1C1-AF06-8959B6852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CCA88E-62F7-0DD2-EA3C-FD23F0926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38D836-E530-066E-FA9B-4715E4DB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EEC239-E75A-4EAF-2CB7-F00F18A7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6E5587-9A3C-FA40-FEC2-43976287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8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067D3-B583-B5C6-DE6D-EF2456341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6DC5DB-FD69-B6D1-EB92-D3B8E2F32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C8FA60-FA9D-EFB9-D51C-41BB21BDE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413F3A-B04E-F8BA-0665-BB3BFBE22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1AFDA3-A520-E98F-C5AE-396B391FD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0B8B81-5255-41D2-8A17-FF200390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026DFA-61F6-89A2-F340-508C4E82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07CB3C-67A4-13D8-1CC0-E0F147CB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69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FB417-B774-7A56-6672-BE587715E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8950B7-5CF5-25FC-5347-FC7C9DF0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713FF4-F564-CF2E-A0FA-F56C7914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729A87-4429-D75B-2E0A-C72CAD89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49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E0F80C-61F2-1A7A-B0C8-C2152283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D5E856-F728-F8BB-1EA9-A727C60F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D623B-9645-098E-9FAA-1C979582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30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4A6CF-4103-4127-1B61-40BD4C18C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52EC2-DA40-56D3-3AAE-462944D58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FFC3F2-1DFD-1C2F-C765-24282171F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621841-BF11-4C4F-F4F5-D49B9D56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38CE97-DA66-758E-EDE2-D0B4E359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997819-6600-4FFD-C4D2-A6823CF8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14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51231-ADB9-0EA7-6F29-288CAAD9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035F65-E325-DF75-6429-0924679CD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7C657A-9C39-578B-EBDF-6563232B2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330062-92C9-D89A-F21E-30DDF647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993C29-DD33-44C7-77AC-AD8577B4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217CF-00A4-9CA8-D52A-AF945ABE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09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B38A0-97C6-B512-F622-A9AD33CC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CF3840-4DF0-E399-36A0-6D0E90D25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CA13F8-DC3A-E03D-738E-A49807DD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9CF1AA-91C6-0259-3E6A-243D4DBC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811E59-144A-0B0F-070F-73F2F5FC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73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599165-E61B-7D71-7F21-1F28868B2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3824F7-70B4-93F2-92A6-C6FB9B945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F7F341-B945-FBB0-4431-53A1EDE32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C65EC5-2926-B0A7-0275-EA16489B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904CDB-0A5D-D6C7-55E2-1163A8F0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87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E1FE9E-F271-C3D1-41D0-EA005E7A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A90E4C-E572-8A2B-F026-34E8A68EE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D26E8-413D-054D-E2BA-7A8C077D0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E70AF-196E-43A0-995A-5062523F933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3D4741-1329-BB0A-3CCD-3A8169DCF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2E18D7-9713-3EBE-ECEF-2ACC61569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FD675-B59C-483F-877C-FAFDDFC032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23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lite/performance/quantization_debugg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rxiv.org/abs/1811.0170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5B176-34B8-2D08-2AF2-ACCA971DA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0" y="734436"/>
            <a:ext cx="11813309" cy="2387600"/>
          </a:xfrm>
        </p:spPr>
        <p:txBody>
          <a:bodyPr>
            <a:noAutofit/>
          </a:bodyPr>
          <a:lstStyle/>
          <a:p>
            <a:r>
              <a:rPr lang="en-US" altLang="ko-KR" sz="4000" b="1" dirty="0"/>
              <a:t>PPO </a:t>
            </a:r>
            <a:r>
              <a:rPr lang="ko-KR" altLang="en-US" sz="4000" b="1" dirty="0"/>
              <a:t>기반의 자동화된 </a:t>
            </a:r>
            <a:r>
              <a:rPr lang="en-US" altLang="ko-KR" sz="4000" b="1" dirty="0"/>
              <a:t>TensorFlow Lite</a:t>
            </a:r>
            <a:br>
              <a:rPr lang="en-US" altLang="ko-KR" sz="4000" b="1" dirty="0"/>
            </a:br>
            <a:r>
              <a:rPr lang="en-US" altLang="ko-KR" sz="4000" b="1" dirty="0"/>
              <a:t>Mixed-Precision Quantization</a:t>
            </a:r>
            <a:r>
              <a:rPr lang="ko-KR" altLang="en-US" sz="4000" b="1" dirty="0"/>
              <a:t> 연구 및 구현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F21F4E-D895-F74F-338C-944993B8DE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altLang="ko-KR" dirty="0"/>
              <a:t>120250320 </a:t>
            </a:r>
            <a:r>
              <a:rPr lang="ko-KR" altLang="en-US" dirty="0"/>
              <a:t>김태형</a:t>
            </a:r>
          </a:p>
        </p:txBody>
      </p:sp>
    </p:spTree>
    <p:extLst>
      <p:ext uri="{BB962C8B-B14F-4D97-AF65-F5344CB8AC3E}">
        <p14:creationId xmlns:p14="http://schemas.microsoft.com/office/powerpoint/2010/main" val="267597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0BFF7-1A0C-E940-4E40-5E68806AB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68DE68-5568-2724-3580-519A1DF01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프로젝트 주제 및 목표</a:t>
            </a:r>
            <a:endParaRPr lang="en-US" altLang="ko-KR" dirty="0"/>
          </a:p>
          <a:p>
            <a:r>
              <a:rPr lang="ko-KR" altLang="en-US" dirty="0"/>
              <a:t>환경 및 데이터셋 설명</a:t>
            </a:r>
            <a:endParaRPr lang="en-US" altLang="ko-KR" dirty="0"/>
          </a:p>
          <a:p>
            <a:r>
              <a:rPr lang="en-US" altLang="ko-KR" dirty="0"/>
              <a:t>State, action, reward </a:t>
            </a:r>
            <a:r>
              <a:rPr lang="ko-KR" altLang="en-US" dirty="0"/>
              <a:t>설계 설명</a:t>
            </a:r>
            <a:endParaRPr lang="en-US" altLang="ko-KR" dirty="0"/>
          </a:p>
          <a:p>
            <a:r>
              <a:rPr lang="ko-KR" altLang="en-US" dirty="0"/>
              <a:t>강화학습 알고리즘</a:t>
            </a:r>
            <a:endParaRPr lang="en-US" altLang="ko-KR" dirty="0"/>
          </a:p>
          <a:p>
            <a:r>
              <a:rPr lang="ko-KR" altLang="en-US" dirty="0"/>
              <a:t>실험 결과</a:t>
            </a:r>
            <a:endParaRPr lang="en-US" altLang="ko-KR" dirty="0"/>
          </a:p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928890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FEEDF-259D-E34A-DD98-6F5C62F7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프로젝트 주제 및 목표</a:t>
            </a:r>
            <a:endParaRPr lang="en-US" altLang="ko-KR" sz="4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62A2F16-4ACB-7182-2530-CFE514CE0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b="1" dirty="0"/>
              <a:t>핵심 문제</a:t>
            </a:r>
            <a:endParaRPr lang="en-US" altLang="ko-KR" b="1" dirty="0"/>
          </a:p>
          <a:p>
            <a:pPr lvl="1">
              <a:lnSpc>
                <a:spcPct val="120000"/>
              </a:lnSpc>
            </a:pPr>
            <a:r>
              <a:rPr lang="ko-KR" altLang="en-US" dirty="0" err="1"/>
              <a:t>엣지</a:t>
            </a:r>
            <a:r>
              <a:rPr lang="ko-KR" altLang="en-US" dirty="0"/>
              <a:t> 디바이스 배포 시</a:t>
            </a:r>
            <a:r>
              <a:rPr lang="en-US" altLang="ko-KR" dirty="0"/>
              <a:t>, </a:t>
            </a:r>
            <a:r>
              <a:rPr lang="ko-KR" altLang="en-US" dirty="0"/>
              <a:t>모델 경량화</a:t>
            </a:r>
            <a:r>
              <a:rPr lang="en-US" altLang="ko-KR" dirty="0"/>
              <a:t>(</a:t>
            </a:r>
            <a:r>
              <a:rPr lang="ko-KR" altLang="en-US" dirty="0"/>
              <a:t>크기</a:t>
            </a:r>
            <a:r>
              <a:rPr lang="en-US" altLang="ko-KR" dirty="0"/>
              <a:t>/</a:t>
            </a:r>
            <a:r>
              <a:rPr lang="ko-KR" altLang="en-US" dirty="0"/>
              <a:t>속도</a:t>
            </a:r>
            <a:r>
              <a:rPr lang="en-US" altLang="ko-KR" dirty="0"/>
              <a:t>)</a:t>
            </a:r>
            <a:r>
              <a:rPr lang="ko-KR" altLang="en-US" dirty="0"/>
              <a:t>와 정확도 유지가 필수</a:t>
            </a:r>
            <a:r>
              <a:rPr lang="en-US" altLang="ko-KR" dirty="0"/>
              <a:t>. 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현재는 </a:t>
            </a:r>
            <a:r>
              <a:rPr lang="en-US" altLang="ko-KR" dirty="0"/>
              <a:t>Android </a:t>
            </a:r>
            <a:r>
              <a:rPr lang="ko-KR" altLang="en-US" dirty="0"/>
              <a:t>환경에서 최적화된 </a:t>
            </a:r>
            <a:r>
              <a:rPr lang="en-US" altLang="ko-KR" dirty="0" err="1"/>
              <a:t>tensorflow</a:t>
            </a:r>
            <a:r>
              <a:rPr lang="en-US" altLang="ko-KR" dirty="0"/>
              <a:t>-lite</a:t>
            </a:r>
            <a:r>
              <a:rPr lang="ko-KR" altLang="en-US" dirty="0"/>
              <a:t>를 대상으로 함</a:t>
            </a:r>
            <a:br>
              <a:rPr lang="en-US" altLang="ko-KR" dirty="0"/>
            </a:b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b="1" dirty="0"/>
              <a:t>균일 양자화</a:t>
            </a:r>
            <a:r>
              <a:rPr lang="en-US" altLang="ko-KR" b="1" dirty="0"/>
              <a:t>(Uniform Quantization)</a:t>
            </a:r>
            <a:r>
              <a:rPr lang="ko-KR" altLang="en-US" b="1" dirty="0"/>
              <a:t>의 한계</a:t>
            </a:r>
            <a:endParaRPr lang="ko-KR" altLang="en-US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모든 레이어를 </a:t>
            </a:r>
            <a:r>
              <a:rPr lang="en-US" altLang="ko-KR" dirty="0"/>
              <a:t>INT8</a:t>
            </a:r>
            <a:r>
              <a:rPr lang="ko-KR" altLang="en-US" dirty="0"/>
              <a:t>로 변환 시</a:t>
            </a:r>
            <a:r>
              <a:rPr lang="en-US" altLang="ko-KR" dirty="0"/>
              <a:t>, </a:t>
            </a:r>
            <a:r>
              <a:rPr lang="ko-KR" altLang="en-US" dirty="0"/>
              <a:t>민감한 레이어에서 큰 정보 손실 발생</a:t>
            </a:r>
            <a:r>
              <a:rPr lang="en-US" altLang="ko-KR" dirty="0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전체 모델 정확도가 크게 저하될 위험 존재</a:t>
            </a:r>
            <a:br>
              <a:rPr lang="en-US" altLang="ko-KR" dirty="0"/>
            </a:b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b="1" dirty="0"/>
              <a:t>대안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혼합 정밀도 양자화 </a:t>
            </a:r>
            <a:r>
              <a:rPr lang="en-US" altLang="ko-KR" dirty="0"/>
              <a:t>(Mixed-Precision Quantization)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레이어별 최적의 비트 수</a:t>
            </a:r>
            <a:r>
              <a:rPr lang="en-US" altLang="ko-KR" dirty="0"/>
              <a:t>(FP32 </a:t>
            </a:r>
            <a:r>
              <a:rPr lang="ko-KR" altLang="en-US" dirty="0"/>
              <a:t>또는 </a:t>
            </a:r>
            <a:r>
              <a:rPr lang="en-US" altLang="ko-KR" dirty="0"/>
              <a:t>INT8)</a:t>
            </a:r>
            <a:r>
              <a:rPr lang="ko-KR" altLang="en-US" dirty="0"/>
              <a:t>를 결정</a:t>
            </a:r>
            <a:r>
              <a:rPr lang="en-US" altLang="ko-KR" dirty="0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b="1" dirty="0"/>
              <a:t>문제</a:t>
            </a:r>
            <a:r>
              <a:rPr lang="en-US" altLang="ko-KR" b="1" dirty="0"/>
              <a:t>:</a:t>
            </a:r>
            <a:r>
              <a:rPr lang="ko-KR" altLang="en-US" dirty="0"/>
              <a:t> </a:t>
            </a:r>
            <a:r>
              <a:rPr lang="en-US" altLang="ko-KR" dirty="0"/>
              <a:t>N</a:t>
            </a:r>
            <a:r>
              <a:rPr lang="ko-KR" altLang="en-US" dirty="0"/>
              <a:t>개 레이어에 대해 </a:t>
            </a:r>
            <a:r>
              <a:rPr lang="en-US" altLang="ko-KR" dirty="0"/>
              <a:t>2^N</a:t>
            </a:r>
            <a:r>
              <a:rPr lang="ko-KR" altLang="en-US" dirty="0"/>
              <a:t>의 탐색 공간이 발생하여</a:t>
            </a:r>
            <a:br>
              <a:rPr lang="en-US" altLang="ko-KR" dirty="0"/>
            </a:br>
            <a:r>
              <a:rPr lang="ko-KR" altLang="en-US" dirty="0"/>
              <a:t>수동 튜닝 불가능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36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8674F-0F56-7652-9550-ABD66310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EADCA-B027-C52F-402B-E9EFDAED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프로젝트 주제 및 목표</a:t>
            </a:r>
            <a:endParaRPr lang="en-US" altLang="ko-KR" sz="4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0092FC6-22A3-A11D-3EF9-CAD47BBA4099}"/>
              </a:ext>
            </a:extLst>
          </p:cNvPr>
          <p:cNvGrpSpPr/>
          <p:nvPr/>
        </p:nvGrpSpPr>
        <p:grpSpPr>
          <a:xfrm>
            <a:off x="7642031" y="795595"/>
            <a:ext cx="3873500" cy="5473346"/>
            <a:chOff x="5732595" y="977900"/>
            <a:chExt cx="3969017" cy="56134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0C983E2-F234-6C69-18C4-11048F98B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32595" y="977900"/>
              <a:ext cx="3969017" cy="5613400"/>
            </a:xfrm>
            <a:prstGeom prst="rect">
              <a:avLst/>
            </a:prstGeom>
          </p:spPr>
        </p:pic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928E0F9-D636-055C-30ED-74B3F424E291}"/>
                </a:ext>
              </a:extLst>
            </p:cNvPr>
            <p:cNvSpPr/>
            <p:nvPr/>
          </p:nvSpPr>
          <p:spPr>
            <a:xfrm>
              <a:off x="7632700" y="2692400"/>
              <a:ext cx="1682750" cy="1104900"/>
            </a:xfrm>
            <a:custGeom>
              <a:avLst/>
              <a:gdLst>
                <a:gd name="connsiteX0" fmla="*/ 1066800 w 1682750"/>
                <a:gd name="connsiteY0" fmla="*/ 171450 h 1104900"/>
                <a:gd name="connsiteX1" fmla="*/ 1181100 w 1682750"/>
                <a:gd name="connsiteY1" fmla="*/ 0 h 1104900"/>
                <a:gd name="connsiteX2" fmla="*/ 1676400 w 1682750"/>
                <a:gd name="connsiteY2" fmla="*/ 0 h 1104900"/>
                <a:gd name="connsiteX3" fmla="*/ 1682750 w 1682750"/>
                <a:gd name="connsiteY3" fmla="*/ 323850 h 1104900"/>
                <a:gd name="connsiteX4" fmla="*/ 1085850 w 1682750"/>
                <a:gd name="connsiteY4" fmla="*/ 736600 h 1104900"/>
                <a:gd name="connsiteX5" fmla="*/ 692150 w 1682750"/>
                <a:gd name="connsiteY5" fmla="*/ 781050 h 1104900"/>
                <a:gd name="connsiteX6" fmla="*/ 539750 w 1682750"/>
                <a:gd name="connsiteY6" fmla="*/ 889000 h 1104900"/>
                <a:gd name="connsiteX7" fmla="*/ 514350 w 1682750"/>
                <a:gd name="connsiteY7" fmla="*/ 1104900 h 1104900"/>
                <a:gd name="connsiteX8" fmla="*/ 0 w 1682750"/>
                <a:gd name="connsiteY8" fmla="*/ 1098550 h 1104900"/>
                <a:gd name="connsiteX9" fmla="*/ 0 w 1682750"/>
                <a:gd name="connsiteY9" fmla="*/ 806450 h 1104900"/>
                <a:gd name="connsiteX10" fmla="*/ 425450 w 1682750"/>
                <a:gd name="connsiteY10" fmla="*/ 806450 h 1104900"/>
                <a:gd name="connsiteX11" fmla="*/ 654050 w 1682750"/>
                <a:gd name="connsiteY11" fmla="*/ 508000 h 1104900"/>
                <a:gd name="connsiteX12" fmla="*/ 1054100 w 1682750"/>
                <a:gd name="connsiteY12" fmla="*/ 438150 h 1104900"/>
                <a:gd name="connsiteX13" fmla="*/ 1066800 w 1682750"/>
                <a:gd name="connsiteY13" fmla="*/ 17145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750" h="1104900">
                  <a:moveTo>
                    <a:pt x="1066800" y="171450"/>
                  </a:moveTo>
                  <a:lnTo>
                    <a:pt x="1181100" y="0"/>
                  </a:lnTo>
                  <a:lnTo>
                    <a:pt x="1676400" y="0"/>
                  </a:lnTo>
                  <a:lnTo>
                    <a:pt x="1682750" y="323850"/>
                  </a:lnTo>
                  <a:lnTo>
                    <a:pt x="1085850" y="736600"/>
                  </a:lnTo>
                  <a:lnTo>
                    <a:pt x="692150" y="781050"/>
                  </a:lnTo>
                  <a:lnTo>
                    <a:pt x="539750" y="889000"/>
                  </a:lnTo>
                  <a:lnTo>
                    <a:pt x="514350" y="1104900"/>
                  </a:lnTo>
                  <a:lnTo>
                    <a:pt x="0" y="1098550"/>
                  </a:lnTo>
                  <a:lnTo>
                    <a:pt x="0" y="806450"/>
                  </a:lnTo>
                  <a:lnTo>
                    <a:pt x="425450" y="806450"/>
                  </a:lnTo>
                  <a:lnTo>
                    <a:pt x="654050" y="508000"/>
                  </a:lnTo>
                  <a:lnTo>
                    <a:pt x="1054100" y="438150"/>
                  </a:lnTo>
                  <a:lnTo>
                    <a:pt x="1066800" y="17145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97F69EEB-0760-2C10-2EA1-8088BA09D9A9}"/>
                </a:ext>
              </a:extLst>
            </p:cNvPr>
            <p:cNvSpPr/>
            <p:nvPr/>
          </p:nvSpPr>
          <p:spPr>
            <a:xfrm>
              <a:off x="7632700" y="4457700"/>
              <a:ext cx="1682750" cy="1104900"/>
            </a:xfrm>
            <a:custGeom>
              <a:avLst/>
              <a:gdLst>
                <a:gd name="connsiteX0" fmla="*/ 1066800 w 1682750"/>
                <a:gd name="connsiteY0" fmla="*/ 171450 h 1104900"/>
                <a:gd name="connsiteX1" fmla="*/ 1181100 w 1682750"/>
                <a:gd name="connsiteY1" fmla="*/ 0 h 1104900"/>
                <a:gd name="connsiteX2" fmla="*/ 1676400 w 1682750"/>
                <a:gd name="connsiteY2" fmla="*/ 0 h 1104900"/>
                <a:gd name="connsiteX3" fmla="*/ 1682750 w 1682750"/>
                <a:gd name="connsiteY3" fmla="*/ 323850 h 1104900"/>
                <a:gd name="connsiteX4" fmla="*/ 1085850 w 1682750"/>
                <a:gd name="connsiteY4" fmla="*/ 736600 h 1104900"/>
                <a:gd name="connsiteX5" fmla="*/ 692150 w 1682750"/>
                <a:gd name="connsiteY5" fmla="*/ 781050 h 1104900"/>
                <a:gd name="connsiteX6" fmla="*/ 539750 w 1682750"/>
                <a:gd name="connsiteY6" fmla="*/ 889000 h 1104900"/>
                <a:gd name="connsiteX7" fmla="*/ 514350 w 1682750"/>
                <a:gd name="connsiteY7" fmla="*/ 1104900 h 1104900"/>
                <a:gd name="connsiteX8" fmla="*/ 0 w 1682750"/>
                <a:gd name="connsiteY8" fmla="*/ 1098550 h 1104900"/>
                <a:gd name="connsiteX9" fmla="*/ 0 w 1682750"/>
                <a:gd name="connsiteY9" fmla="*/ 806450 h 1104900"/>
                <a:gd name="connsiteX10" fmla="*/ 425450 w 1682750"/>
                <a:gd name="connsiteY10" fmla="*/ 806450 h 1104900"/>
                <a:gd name="connsiteX11" fmla="*/ 654050 w 1682750"/>
                <a:gd name="connsiteY11" fmla="*/ 508000 h 1104900"/>
                <a:gd name="connsiteX12" fmla="*/ 1054100 w 1682750"/>
                <a:gd name="connsiteY12" fmla="*/ 438150 h 1104900"/>
                <a:gd name="connsiteX13" fmla="*/ 1066800 w 1682750"/>
                <a:gd name="connsiteY13" fmla="*/ 17145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750" h="1104900">
                  <a:moveTo>
                    <a:pt x="1066800" y="171450"/>
                  </a:moveTo>
                  <a:lnTo>
                    <a:pt x="1181100" y="0"/>
                  </a:lnTo>
                  <a:lnTo>
                    <a:pt x="1676400" y="0"/>
                  </a:lnTo>
                  <a:lnTo>
                    <a:pt x="1682750" y="323850"/>
                  </a:lnTo>
                  <a:lnTo>
                    <a:pt x="1085850" y="736600"/>
                  </a:lnTo>
                  <a:lnTo>
                    <a:pt x="692150" y="781050"/>
                  </a:lnTo>
                  <a:lnTo>
                    <a:pt x="539750" y="889000"/>
                  </a:lnTo>
                  <a:lnTo>
                    <a:pt x="514350" y="1104900"/>
                  </a:lnTo>
                  <a:lnTo>
                    <a:pt x="0" y="1098550"/>
                  </a:lnTo>
                  <a:lnTo>
                    <a:pt x="0" y="806450"/>
                  </a:lnTo>
                  <a:lnTo>
                    <a:pt x="425450" y="806450"/>
                  </a:lnTo>
                  <a:lnTo>
                    <a:pt x="654050" y="508000"/>
                  </a:lnTo>
                  <a:lnTo>
                    <a:pt x="1054100" y="438150"/>
                  </a:lnTo>
                  <a:lnTo>
                    <a:pt x="1066800" y="17145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C38DBD5-C65E-51F3-F29D-138127AF8C40}"/>
                </a:ext>
              </a:extLst>
            </p:cNvPr>
            <p:cNvSpPr/>
            <p:nvPr/>
          </p:nvSpPr>
          <p:spPr>
            <a:xfrm>
              <a:off x="8258175" y="2927350"/>
              <a:ext cx="450850" cy="215900"/>
            </a:xfrm>
            <a:prstGeom prst="ellipse">
              <a:avLst/>
            </a:prstGeom>
            <a:noFill/>
            <a:ln>
              <a:solidFill>
                <a:srgbClr val="0107FF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54D4F53-46F1-43BC-819C-900F461A1215}"/>
                </a:ext>
              </a:extLst>
            </p:cNvPr>
            <p:cNvSpPr/>
            <p:nvPr/>
          </p:nvSpPr>
          <p:spPr>
            <a:xfrm>
              <a:off x="8234361" y="6146799"/>
              <a:ext cx="450850" cy="215900"/>
            </a:xfrm>
            <a:prstGeom prst="ellipse">
              <a:avLst/>
            </a:prstGeom>
            <a:noFill/>
            <a:ln>
              <a:solidFill>
                <a:srgbClr val="0107FF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2722832-692D-8F3C-C5D9-7236774FEBAD}"/>
                </a:ext>
              </a:extLst>
            </p:cNvPr>
            <p:cNvSpPr/>
            <p:nvPr/>
          </p:nvSpPr>
          <p:spPr>
            <a:xfrm>
              <a:off x="8258175" y="4703761"/>
              <a:ext cx="450850" cy="215900"/>
            </a:xfrm>
            <a:prstGeom prst="ellipse">
              <a:avLst/>
            </a:prstGeom>
            <a:noFill/>
            <a:ln>
              <a:solidFill>
                <a:srgbClr val="0107FF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4">
            <a:extLst>
              <a:ext uri="{FF2B5EF4-FFF2-40B4-BE49-F238E27FC236}">
                <a16:creationId xmlns:a16="http://schemas.microsoft.com/office/drawing/2014/main" id="{EAE4F30D-20DE-1C16-B04C-11D946AF2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40151" cy="46672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2000" b="1" dirty="0"/>
              <a:t>기존 방법</a:t>
            </a:r>
            <a:endParaRPr lang="en-US" altLang="ko-KR" sz="2000" b="1" dirty="0"/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Tensorflow</a:t>
            </a:r>
            <a:r>
              <a:rPr lang="ko-KR" altLang="en-US" sz="1600" dirty="0"/>
              <a:t>에서 제공되는 </a:t>
            </a:r>
            <a:r>
              <a:rPr lang="en-US" altLang="ko-KR" sz="1600" dirty="0" err="1"/>
              <a:t>QuantizationDebugger</a:t>
            </a:r>
            <a:r>
              <a:rPr lang="ko-KR" altLang="en-US" sz="1600" dirty="0"/>
              <a:t>를 통해 각 </a:t>
            </a:r>
            <a:r>
              <a:rPr lang="en-US" altLang="ko-KR" sz="1600" dirty="0"/>
              <a:t>layer</a:t>
            </a:r>
            <a:r>
              <a:rPr lang="ko-KR" altLang="en-US" sz="1600" dirty="0"/>
              <a:t>의 통계 정보를 받아 이를 바탕으로 양자화 적용할 레이어를 선택 가능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en-US" altLang="ko-KR" sz="1600" dirty="0">
                <a:hlinkClick r:id="rId3"/>
              </a:rPr>
              <a:t>https://www.tensorflow.org/lite/performance/quantization_debugger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위 참고 사이트에서는 </a:t>
            </a:r>
            <a:r>
              <a:rPr lang="en-US" altLang="ko-KR" sz="1600" dirty="0" err="1"/>
              <a:t>rmse</a:t>
            </a:r>
            <a:r>
              <a:rPr lang="en-US" altLang="ko-KR" sz="1600" dirty="0"/>
              <a:t>/scale metric</a:t>
            </a:r>
            <a:r>
              <a:rPr lang="ko-KR" altLang="en-US" sz="1600" dirty="0"/>
              <a:t>을 정의하여</a:t>
            </a:r>
            <a:br>
              <a:rPr lang="en-US" altLang="ko-KR" sz="1600" dirty="0"/>
            </a:br>
            <a:r>
              <a:rPr lang="ko-KR" altLang="en-US" sz="1600" dirty="0"/>
              <a:t>해당 값을 기준으로 양자화 적용할 레이어를 선택하고 있음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QuantizationDebugger</a:t>
            </a:r>
            <a:r>
              <a:rPr lang="ko-KR" altLang="en-US" sz="1600" dirty="0"/>
              <a:t>는 통계 정보 생성 시</a:t>
            </a:r>
            <a:r>
              <a:rPr lang="en-US" altLang="ko-KR" sz="1600" dirty="0"/>
              <a:t>, </a:t>
            </a:r>
            <a:r>
              <a:rPr lang="ko-KR" altLang="en-US" sz="1600" dirty="0"/>
              <a:t>우측과 같이 </a:t>
            </a:r>
            <a:r>
              <a:rPr lang="en-US" altLang="ko-KR" sz="1600" dirty="0" err="1"/>
              <a:t>NumericVerify</a:t>
            </a:r>
            <a:r>
              <a:rPr lang="en-US" altLang="ko-KR" sz="1600" dirty="0"/>
              <a:t> </a:t>
            </a:r>
            <a:r>
              <a:rPr lang="ko-KR" altLang="en-US" sz="1600" dirty="0"/>
              <a:t>연산을 삽입하여 </a:t>
            </a:r>
            <a:r>
              <a:rPr lang="en-US" altLang="ko-KR" sz="1600" dirty="0"/>
              <a:t>f32</a:t>
            </a:r>
            <a:r>
              <a:rPr lang="ko-KR" altLang="en-US" sz="1600" dirty="0"/>
              <a:t>와 </a:t>
            </a:r>
            <a:r>
              <a:rPr lang="en-US" altLang="ko-KR" sz="1600" dirty="0"/>
              <a:t>int8</a:t>
            </a:r>
            <a:r>
              <a:rPr lang="ko-KR" altLang="en-US" sz="1600" dirty="0"/>
              <a:t>의 결과 비교를 처리하고 있음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문제는 해당 모듈의 기본 전제는 </a:t>
            </a:r>
            <a:r>
              <a:rPr lang="ko-KR" altLang="en-US" sz="1600" u="sng" dirty="0"/>
              <a:t>이전 레이어의 양자화 처리된 출력을 다음 레이어의 입력으로 받는다</a:t>
            </a:r>
            <a:r>
              <a:rPr lang="ko-KR" altLang="en-US" sz="1600" dirty="0"/>
              <a:t>는 것임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ko-KR" altLang="en-US" sz="1600" b="1" u="sng" dirty="0"/>
              <a:t>따라서 양자화로 인한 오차가 다음 레이어로 계속 누적되어 통계 정보가 생성되는 구조 </a:t>
            </a:r>
            <a:br>
              <a:rPr lang="en-US" altLang="ko-KR" sz="1600" dirty="0"/>
            </a:br>
            <a:endParaRPr lang="en-US" altLang="ko-KR" sz="1600" dirty="0"/>
          </a:p>
          <a:p>
            <a:pPr lvl="1">
              <a:lnSpc>
                <a:spcPct val="120000"/>
              </a:lnSpc>
            </a:pPr>
            <a:endParaRPr lang="en-US" altLang="ko-KR" sz="1600" dirty="0"/>
          </a:p>
          <a:p>
            <a:pPr lvl="1">
              <a:lnSpc>
                <a:spcPct val="120000"/>
              </a:lnSpc>
            </a:pPr>
            <a:endParaRPr lang="en-US" altLang="ko-KR" sz="1600" dirty="0"/>
          </a:p>
          <a:p>
            <a:pPr lvl="1">
              <a:lnSpc>
                <a:spcPct val="120000"/>
              </a:lnSpc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47497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3E7AF-5A59-E130-9791-8DDE29EF1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40CD1-0173-C45E-8CAA-7F0A831C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프로젝트 주제 및 목표</a:t>
            </a:r>
            <a:endParaRPr lang="en-US" altLang="ko-KR" sz="4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0FAD9F2-01B3-EF30-66D5-BA99DE1E2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/>
              <a:t>목표</a:t>
            </a:r>
            <a:endParaRPr lang="en-US" altLang="ko-KR" b="1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PPO </a:t>
            </a:r>
            <a:r>
              <a:rPr lang="ko-KR" altLang="en-US" dirty="0"/>
              <a:t>기반의 강화학습을 통해 최적의 </a:t>
            </a:r>
            <a:r>
              <a:rPr lang="en-US" altLang="ko-KR" dirty="0"/>
              <a:t>TensorFlow Lite </a:t>
            </a:r>
            <a:r>
              <a:rPr lang="ko-KR" altLang="en-US" dirty="0"/>
              <a:t>혼합 정밀도 양자화를 결정하는 </a:t>
            </a:r>
            <a:r>
              <a:rPr lang="en-US" altLang="ko-KR" dirty="0"/>
              <a:t>framework</a:t>
            </a:r>
            <a:r>
              <a:rPr lang="ko-KR" altLang="en-US" dirty="0"/>
              <a:t>을 만든다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ko-KR" altLang="en-US" dirty="0"/>
          </a:p>
          <a:p>
            <a:pPr lvl="1">
              <a:lnSpc>
                <a:spcPct val="12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342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C11F-2698-727A-07EF-D8AA160D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5D5BE-C1ED-2EF3-5335-D7E63F677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환경 및 데이터셋 설명</a:t>
            </a:r>
            <a:endParaRPr lang="en-US" altLang="ko-KR" sz="4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72365F1-ABE1-F365-7D99-7AF669470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470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b="1" dirty="0"/>
              <a:t>환경</a:t>
            </a:r>
            <a:endParaRPr lang="en-US" altLang="ko-KR" b="1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정의 및 구현이 가장 어려웠던 단계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Mixed precision</a:t>
            </a:r>
            <a:r>
              <a:rPr lang="ko-KR" altLang="en-US" dirty="0"/>
              <a:t>을 적용하기 위해서는 </a:t>
            </a:r>
            <a:r>
              <a:rPr lang="en-US" altLang="ko-KR" dirty="0" err="1"/>
              <a:t>tensorflow</a:t>
            </a:r>
            <a:r>
              <a:rPr lang="en-US" altLang="ko-KR" dirty="0"/>
              <a:t> </a:t>
            </a:r>
            <a:r>
              <a:rPr lang="en-US" altLang="ko-KR" dirty="0" err="1"/>
              <a:t>QuantizationDebugger</a:t>
            </a:r>
            <a:r>
              <a:rPr lang="ko-KR" altLang="en-US" dirty="0"/>
              <a:t>를 반드시 사용해야 함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State</a:t>
            </a:r>
            <a:r>
              <a:rPr lang="ko-KR" altLang="en-US" dirty="0"/>
              <a:t>를 어떻게 정의하는가에 따라 다르겠지만</a:t>
            </a:r>
            <a:r>
              <a:rPr lang="en-US" altLang="ko-KR" dirty="0"/>
              <a:t>, </a:t>
            </a:r>
            <a:r>
              <a:rPr lang="ko-KR" altLang="en-US" dirty="0"/>
              <a:t>기존 방법인 </a:t>
            </a:r>
            <a:r>
              <a:rPr lang="en-US" altLang="ko-KR" dirty="0" err="1"/>
              <a:t>rmse</a:t>
            </a:r>
            <a:r>
              <a:rPr lang="en-US" altLang="ko-KR" dirty="0"/>
              <a:t>/scale</a:t>
            </a:r>
            <a:r>
              <a:rPr lang="ko-KR" altLang="en-US" dirty="0"/>
              <a:t>은 어느정도 검증이 되었기 때문에</a:t>
            </a:r>
            <a:br>
              <a:rPr lang="en-US" altLang="ko-KR" dirty="0"/>
            </a:br>
            <a:r>
              <a:rPr lang="ko-KR" altLang="en-US" dirty="0"/>
              <a:t>반드시 </a:t>
            </a:r>
            <a:r>
              <a:rPr lang="en-US" altLang="ko-KR" dirty="0"/>
              <a:t>State </a:t>
            </a:r>
            <a:r>
              <a:rPr lang="ko-KR" altLang="en-US" dirty="0"/>
              <a:t>내부에 포함시키고 싶었음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가장 많은 참고를 한 모델은 </a:t>
            </a:r>
            <a:r>
              <a:rPr lang="en-US" altLang="ko-KR" dirty="0" err="1"/>
              <a:t>ReLeQ</a:t>
            </a:r>
            <a:r>
              <a:rPr lang="en-US" altLang="ko-KR" dirty="0"/>
              <a:t> 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 err="1"/>
              <a:t>아직까지도</a:t>
            </a:r>
            <a:r>
              <a:rPr lang="ko-KR" altLang="en-US" dirty="0"/>
              <a:t> 다른 </a:t>
            </a:r>
            <a:r>
              <a:rPr lang="ko-KR" altLang="en-US" dirty="0" err="1"/>
              <a:t>논문들에서</a:t>
            </a:r>
            <a:r>
              <a:rPr lang="ko-KR" altLang="en-US" dirty="0"/>
              <a:t> 많은 참고가 되고 있음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>
                <a:hlinkClick r:id="rId2"/>
              </a:rPr>
              <a:t>[1811.01704] </a:t>
            </a:r>
            <a:r>
              <a:rPr lang="en-US" altLang="ko-KR" dirty="0" err="1">
                <a:hlinkClick r:id="rId2"/>
              </a:rPr>
              <a:t>ReLeQ</a:t>
            </a:r>
            <a:r>
              <a:rPr lang="en-US" altLang="ko-KR" dirty="0">
                <a:hlinkClick r:id="rId2"/>
              </a:rPr>
              <a:t>: A Reinforcement Learning Approach for Deep Quantization of Neural Networks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핵심은 </a:t>
            </a:r>
            <a:r>
              <a:rPr lang="en-US" altLang="ko-KR" dirty="0"/>
              <a:t>Reward </a:t>
            </a:r>
            <a:r>
              <a:rPr lang="ko-KR" altLang="en-US" dirty="0"/>
              <a:t>계산을 위해 주어진 </a:t>
            </a:r>
            <a:r>
              <a:rPr lang="en-US" altLang="ko-KR" dirty="0"/>
              <a:t>Action</a:t>
            </a:r>
            <a:r>
              <a:rPr lang="ko-KR" altLang="en-US" dirty="0"/>
              <a:t>에 따른 </a:t>
            </a:r>
            <a:r>
              <a:rPr lang="en-US" altLang="ko-KR" dirty="0"/>
              <a:t>Inference</a:t>
            </a:r>
            <a:r>
              <a:rPr lang="ko-KR" altLang="en-US" dirty="0"/>
              <a:t>를 매번 해야 한다는 것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marL="457200" lvl="1" indent="0">
              <a:lnSpc>
                <a:spcPct val="120000"/>
              </a:lnSpc>
              <a:buNone/>
            </a:pPr>
            <a:br>
              <a:rPr lang="en-US" altLang="ko-KR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223681-B85E-59B6-3167-E57706E7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55" y="4059050"/>
            <a:ext cx="8111413" cy="25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99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35388-6DA8-7260-57D8-27FD9484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A7207-390E-DBC4-3BCE-EED135BB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환경 및 데이터셋 설명</a:t>
            </a:r>
            <a:endParaRPr lang="en-US" altLang="ko-KR" sz="4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E0C221A-617C-2EEA-8731-77C73F514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34943" cy="478044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b="1" dirty="0"/>
              <a:t>대상 모델</a:t>
            </a:r>
            <a:endParaRPr lang="en-US" altLang="ko-KR" b="1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경량의 모델 중에 </a:t>
            </a:r>
            <a:r>
              <a:rPr lang="en-US" altLang="ko-KR" dirty="0"/>
              <a:t>Mobilenetv3_small</a:t>
            </a:r>
            <a:r>
              <a:rPr lang="ko-KR" altLang="en-US" dirty="0"/>
              <a:t>을 선택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Imagenet</a:t>
            </a:r>
            <a:r>
              <a:rPr lang="ko-KR" altLang="en-US" dirty="0"/>
              <a:t> </a:t>
            </a:r>
            <a:r>
              <a:rPr lang="en-US" altLang="ko-KR" dirty="0"/>
              <a:t>top1</a:t>
            </a:r>
            <a:r>
              <a:rPr lang="ko-KR" altLang="en-US" dirty="0"/>
              <a:t> </a:t>
            </a:r>
            <a:r>
              <a:rPr lang="en-US" altLang="ko-KR" dirty="0"/>
              <a:t>acc</a:t>
            </a:r>
            <a:r>
              <a:rPr lang="ko-KR" altLang="en-US" dirty="0"/>
              <a:t> 기준 </a:t>
            </a:r>
            <a:r>
              <a:rPr lang="en-US" altLang="ko-KR" dirty="0"/>
              <a:t>67.6%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Full INT8 </a:t>
            </a:r>
            <a:r>
              <a:rPr lang="ko-KR" altLang="en-US" dirty="0"/>
              <a:t>양자화 시에 정확도는 </a:t>
            </a:r>
            <a:r>
              <a:rPr lang="ko-KR" altLang="en-US" dirty="0" err="1"/>
              <a:t>박살남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기존 방법인 </a:t>
            </a:r>
            <a:r>
              <a:rPr lang="en-US" altLang="ko-KR" dirty="0"/>
              <a:t>‘</a:t>
            </a:r>
            <a:r>
              <a:rPr lang="en-US" altLang="ko-KR" dirty="0" err="1"/>
              <a:t>rmse</a:t>
            </a:r>
            <a:r>
              <a:rPr lang="en-US" altLang="ko-KR" dirty="0"/>
              <a:t>/scale’ </a:t>
            </a:r>
            <a:r>
              <a:rPr lang="ko-KR" altLang="en-US" dirty="0"/>
              <a:t>사용한 </a:t>
            </a:r>
            <a:r>
              <a:rPr lang="en-US" altLang="ko-KR" dirty="0"/>
              <a:t>mixed precision </a:t>
            </a:r>
            <a:r>
              <a:rPr lang="ko-KR" altLang="en-US" dirty="0"/>
              <a:t>방법으로는</a:t>
            </a:r>
            <a:br>
              <a:rPr lang="en-US" altLang="ko-KR" dirty="0"/>
            </a:br>
            <a:r>
              <a:rPr lang="ko-KR" altLang="en-US" dirty="0"/>
              <a:t>꽤 괜찮은 정확도를 보임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하지만 </a:t>
            </a:r>
            <a:r>
              <a:rPr lang="en-US" altLang="ko-KR" dirty="0" err="1"/>
              <a:t>FileSize</a:t>
            </a:r>
            <a:r>
              <a:rPr lang="ko-KR" altLang="en-US" dirty="0"/>
              <a:t>가 </a:t>
            </a:r>
            <a:r>
              <a:rPr lang="en-US" altLang="ko-KR" dirty="0"/>
              <a:t>5MB </a:t>
            </a:r>
            <a:r>
              <a:rPr lang="ko-KR" altLang="en-US" dirty="0"/>
              <a:t>수준으로 최대 </a:t>
            </a:r>
            <a:r>
              <a:rPr lang="en-US" altLang="ko-KR" dirty="0"/>
              <a:t>50%</a:t>
            </a:r>
            <a:r>
              <a:rPr lang="ko-KR" altLang="en-US" dirty="0"/>
              <a:t>로서</a:t>
            </a:r>
            <a:br>
              <a:rPr lang="en-US" altLang="ko-KR" dirty="0"/>
            </a:br>
            <a:r>
              <a:rPr lang="ko-KR" altLang="en-US" dirty="0"/>
              <a:t>좀 더 양자화를 할 수 있는 여지가 있음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양자화를 위한 </a:t>
            </a:r>
            <a:r>
              <a:rPr lang="en-US" altLang="ko-KR" dirty="0"/>
              <a:t>Calibration </a:t>
            </a:r>
            <a:r>
              <a:rPr lang="ko-KR" altLang="en-US" dirty="0"/>
              <a:t>데이터 셋으로는 </a:t>
            </a:r>
            <a:r>
              <a:rPr lang="en-US" altLang="ko-KR" dirty="0"/>
              <a:t>COCO image </a:t>
            </a:r>
            <a:r>
              <a:rPr lang="ko-KR" altLang="en-US" dirty="0"/>
              <a:t>중</a:t>
            </a:r>
            <a:br>
              <a:rPr lang="en-US" altLang="ko-KR" dirty="0"/>
            </a:br>
            <a:r>
              <a:rPr lang="en-US" altLang="ko-KR" dirty="0"/>
              <a:t>30</a:t>
            </a:r>
            <a:r>
              <a:rPr lang="ko-KR" altLang="en-US" dirty="0"/>
              <a:t>장을</a:t>
            </a:r>
            <a:r>
              <a:rPr lang="en-US" altLang="ko-KR" dirty="0"/>
              <a:t> </a:t>
            </a:r>
            <a:r>
              <a:rPr lang="ko-KR" altLang="en-US" dirty="0"/>
              <a:t>무작위로 선택하여 사용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ko-KR" dirty="0"/>
          </a:p>
          <a:p>
            <a:pPr marL="457200" lvl="1" indent="0">
              <a:lnSpc>
                <a:spcPct val="120000"/>
              </a:lnSpc>
              <a:buNone/>
            </a:pPr>
            <a:br>
              <a:rPr lang="en-US" altLang="ko-KR" dirty="0"/>
            </a:b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FFAC85-0088-1059-7A6A-CFE1C26FF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796" y="1901211"/>
            <a:ext cx="4550229" cy="425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7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8E29-5713-A1BF-CD32-79AA4F1E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383E3-0C55-798B-FEE7-9BEA94F5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State, action, reward </a:t>
            </a:r>
            <a:r>
              <a:rPr lang="ko-KR" altLang="en-US" sz="4000" dirty="0"/>
              <a:t>설계 설명</a:t>
            </a:r>
            <a:endParaRPr lang="en-US" altLang="ko-KR" sz="40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550CC334-875A-9CB9-6E74-83B3C7F6CFF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b="1" dirty="0"/>
              <a:t>Action (1</a:t>
            </a:r>
            <a:r>
              <a:rPr lang="ko-KR" altLang="en-US" b="1" dirty="0"/>
              <a:t>개 </a:t>
            </a:r>
            <a:r>
              <a:rPr lang="en-US" altLang="ko-KR" b="1" dirty="0"/>
              <a:t>float (0~1))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이산적인 결정</a:t>
            </a:r>
            <a:r>
              <a:rPr lang="en-US" altLang="ko-KR" dirty="0"/>
              <a:t>(Quantize vs Float)</a:t>
            </a:r>
            <a:r>
              <a:rPr lang="ko-KR" altLang="en-US" dirty="0"/>
              <a:t>이 아닌</a:t>
            </a:r>
            <a:r>
              <a:rPr lang="en-US" altLang="ko-KR" dirty="0"/>
              <a:t>, </a:t>
            </a:r>
            <a:r>
              <a:rPr lang="ko-KR" altLang="en-US" dirty="0"/>
              <a:t>연속적인 민감도</a:t>
            </a:r>
            <a:r>
              <a:rPr lang="en-US" altLang="ko-KR" dirty="0"/>
              <a:t>(Sensitivity) </a:t>
            </a:r>
            <a:r>
              <a:rPr lang="ko-KR" altLang="en-US" dirty="0"/>
              <a:t>값 </a:t>
            </a:r>
            <a:r>
              <a:rPr lang="en-US" altLang="ko-KR" dirty="0"/>
              <a:t>(float)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이는 </a:t>
            </a:r>
            <a:r>
              <a:rPr lang="en-US" altLang="ko-KR" dirty="0"/>
              <a:t>PPO</a:t>
            </a:r>
            <a:r>
              <a:rPr lang="ko-KR" altLang="en-US" dirty="0"/>
              <a:t>와 같은 연속적인 액션 공간을 다루는 알고리즘에서 레이어 간의 상대적인 중요도를 미세하게 학습할 수 있도록 하기 위함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Thresholding</a:t>
            </a:r>
            <a:r>
              <a:rPr lang="ko-KR" altLang="en-US" dirty="0"/>
              <a:t>으로서 </a:t>
            </a:r>
            <a:r>
              <a:rPr lang="ko-KR" altLang="en-US" dirty="0" err="1"/>
              <a:t>하이퍼</a:t>
            </a:r>
            <a:r>
              <a:rPr lang="ko-KR" altLang="en-US" dirty="0"/>
              <a:t> 파라미터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0.5)</a:t>
            </a:r>
            <a:r>
              <a:rPr lang="ko-KR" altLang="en-US" dirty="0"/>
              <a:t>를 기준으로 실제 양자화 여부를 결정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en-US" altLang="ko-KR" dirty="0"/>
              <a:t>a &lt;= 0.5 : </a:t>
            </a:r>
            <a:r>
              <a:rPr lang="ko-KR" altLang="en-US" dirty="0"/>
              <a:t>해당 레이어는 민감하므로 </a:t>
            </a:r>
            <a:r>
              <a:rPr lang="en-US" altLang="ko-KR" dirty="0"/>
              <a:t>FP32 </a:t>
            </a:r>
            <a:r>
              <a:rPr lang="ko-KR" altLang="en-US" dirty="0"/>
              <a:t>유지</a:t>
            </a:r>
            <a:r>
              <a:rPr lang="en-US" altLang="ko-KR" dirty="0"/>
              <a:t>.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a &gt; 0.5 : </a:t>
            </a:r>
            <a:r>
              <a:rPr lang="ko-KR" altLang="en-US" dirty="0"/>
              <a:t>해당 레이어는 둔감하므로 </a:t>
            </a:r>
            <a:r>
              <a:rPr lang="en-US" altLang="ko-KR" dirty="0"/>
              <a:t>INT8 </a:t>
            </a:r>
            <a:r>
              <a:rPr lang="ko-KR" altLang="en-US" dirty="0"/>
              <a:t>양자화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0989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7AEC-7A0D-9972-7C4D-B3E9061D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6B941-A944-DB8C-A139-9AA709DC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State, action, reward </a:t>
            </a:r>
            <a:r>
              <a:rPr lang="ko-KR" altLang="en-US" sz="4000" dirty="0"/>
              <a:t>설계 설명</a:t>
            </a:r>
            <a:endParaRPr lang="en-US" altLang="ko-KR" sz="4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95DCED1-37AE-BA25-477A-F3BC76AE8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905" y="1415078"/>
            <a:ext cx="11084767" cy="520343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sz="1500" b="1" dirty="0"/>
              <a:t>State (9</a:t>
            </a:r>
            <a:r>
              <a:rPr lang="ko-KR" altLang="en-US" sz="1500" b="1" dirty="0"/>
              <a:t>개</a:t>
            </a:r>
            <a:r>
              <a:rPr lang="en-US" altLang="ko-KR" sz="1500" b="1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Layer Index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전체 레이어 중 현재 위치</a:t>
            </a:r>
            <a:r>
              <a:rPr lang="en-US" altLang="ko-KR" sz="900" dirty="0"/>
              <a:t>. </a:t>
            </a:r>
            <a:r>
              <a:rPr lang="ko-KR" altLang="en-US" sz="900" dirty="0"/>
              <a:t>네트워크의 깊이에 따른 민감도 변화 학습</a:t>
            </a:r>
            <a:endParaRPr lang="en-US" altLang="ko-KR" sz="900" dirty="0"/>
          </a:p>
          <a:p>
            <a:pPr lvl="2">
              <a:lnSpc>
                <a:spcPct val="120000"/>
              </a:lnSpc>
            </a:pPr>
            <a:r>
              <a:rPr lang="en-US" altLang="ko-KR" sz="900" dirty="0"/>
              <a:t>0~1</a:t>
            </a:r>
            <a:r>
              <a:rPr lang="ko-KR" altLang="en-US" sz="900" dirty="0"/>
              <a:t>사이의 값으로서 전체 레이어 대비 현재 레이어의 위치 비율로 정규화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1100" dirty="0" err="1"/>
              <a:t>OpCode</a:t>
            </a:r>
            <a:endParaRPr lang="en-US" altLang="ko-KR" sz="1100" dirty="0"/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연산자 종류 </a:t>
            </a:r>
            <a:r>
              <a:rPr lang="en-US" altLang="ko-KR" sz="900" dirty="0"/>
              <a:t>(Conv2D, </a:t>
            </a:r>
            <a:r>
              <a:rPr lang="en-US" altLang="ko-KR" sz="900" dirty="0" err="1"/>
              <a:t>DepthwiseConv</a:t>
            </a:r>
            <a:r>
              <a:rPr lang="en-US" altLang="ko-KR" sz="900" dirty="0"/>
              <a:t> </a:t>
            </a:r>
            <a:r>
              <a:rPr lang="ko-KR" altLang="en-US" sz="900" dirty="0"/>
              <a:t>등</a:t>
            </a:r>
            <a:r>
              <a:rPr lang="en-US" altLang="ko-KR" sz="900" dirty="0"/>
              <a:t>). </a:t>
            </a:r>
            <a:r>
              <a:rPr lang="ko-KR" altLang="en-US" sz="900" dirty="0"/>
              <a:t>연산 특성에 따른 내성 차이 반영</a:t>
            </a:r>
            <a:r>
              <a:rPr lang="en-US" altLang="ko-KR" sz="900" dirty="0"/>
              <a:t>, Hash </a:t>
            </a:r>
            <a:r>
              <a:rPr lang="ko-KR" altLang="en-US" sz="900" dirty="0"/>
              <a:t>코드로서 처리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1100" b="1" dirty="0">
                <a:solidFill>
                  <a:srgbClr val="0070C0"/>
                </a:solidFill>
              </a:rPr>
              <a:t>Input Tensor Count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입력 </a:t>
            </a:r>
            <a:r>
              <a:rPr lang="ko-KR" altLang="en-US" sz="900" dirty="0" err="1"/>
              <a:t>텐서의</a:t>
            </a:r>
            <a:r>
              <a:rPr lang="ko-KR" altLang="en-US" sz="900" dirty="0"/>
              <a:t> 개수</a:t>
            </a:r>
            <a:r>
              <a:rPr lang="en-US" altLang="ko-KR" sz="900" dirty="0"/>
              <a:t>. </a:t>
            </a:r>
            <a:r>
              <a:rPr lang="ko-KR" altLang="en-US" sz="900" dirty="0"/>
              <a:t>복잡도 지표</a:t>
            </a:r>
            <a:r>
              <a:rPr lang="en-US" altLang="ko-KR" sz="900" dirty="0"/>
              <a:t>, log</a:t>
            </a:r>
            <a:r>
              <a:rPr lang="ko-KR" altLang="en-US" sz="900" dirty="0"/>
              <a:t>처리로 값의 </a:t>
            </a:r>
            <a:r>
              <a:rPr lang="en-US" altLang="ko-KR" sz="900" dirty="0"/>
              <a:t>scale </a:t>
            </a:r>
            <a:r>
              <a:rPr lang="ko-KR" altLang="en-US" sz="900" dirty="0"/>
              <a:t>조정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1100" b="1" dirty="0">
                <a:solidFill>
                  <a:srgbClr val="0070C0"/>
                </a:solidFill>
              </a:rPr>
              <a:t>Input Element Count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입력 </a:t>
            </a:r>
            <a:r>
              <a:rPr lang="ko-KR" altLang="en-US" sz="900" dirty="0" err="1"/>
              <a:t>텐서의</a:t>
            </a:r>
            <a:r>
              <a:rPr lang="ko-KR" altLang="en-US" sz="900" dirty="0"/>
              <a:t> 전체 원소 수</a:t>
            </a:r>
            <a:r>
              <a:rPr lang="en-US" altLang="ko-KR" sz="900" dirty="0"/>
              <a:t>. </a:t>
            </a:r>
            <a:r>
              <a:rPr lang="ko-KR" altLang="en-US" sz="900" dirty="0" err="1"/>
              <a:t>연산량</a:t>
            </a:r>
            <a:r>
              <a:rPr lang="ko-KR" altLang="en-US" sz="900" dirty="0"/>
              <a:t> 및 파라미터 수와 비례</a:t>
            </a:r>
            <a:endParaRPr lang="en-US" altLang="ko-KR" sz="900" dirty="0"/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입력 </a:t>
            </a:r>
            <a:r>
              <a:rPr lang="ko-KR" altLang="en-US" sz="900" dirty="0" err="1"/>
              <a:t>텐서가</a:t>
            </a:r>
            <a:r>
              <a:rPr lang="ko-KR" altLang="en-US" sz="900" dirty="0"/>
              <a:t> 여러 개인 경우엔 합산으로 계산하며 </a:t>
            </a:r>
            <a:r>
              <a:rPr lang="en-US" altLang="ko-KR" sz="900" dirty="0"/>
              <a:t>log </a:t>
            </a:r>
            <a:r>
              <a:rPr lang="ko-KR" altLang="en-US" sz="900" dirty="0"/>
              <a:t>처리로 값의 </a:t>
            </a:r>
            <a:r>
              <a:rPr lang="en-US" altLang="ko-KR" sz="900" dirty="0"/>
              <a:t>scale </a:t>
            </a:r>
            <a:r>
              <a:rPr lang="ko-KR" altLang="en-US" sz="900" dirty="0"/>
              <a:t>조정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1100" b="1" dirty="0">
                <a:solidFill>
                  <a:srgbClr val="0070C0"/>
                </a:solidFill>
              </a:rPr>
              <a:t>Input Mean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입력 </a:t>
            </a:r>
            <a:r>
              <a:rPr lang="ko-KR" altLang="en-US" sz="900" dirty="0" err="1"/>
              <a:t>텐서</a:t>
            </a:r>
            <a:r>
              <a:rPr lang="ko-KR" altLang="en-US" sz="900" dirty="0"/>
              <a:t> 값들의 평균</a:t>
            </a:r>
            <a:r>
              <a:rPr lang="en-US" altLang="ko-KR" sz="900" dirty="0"/>
              <a:t>. tanh</a:t>
            </a:r>
            <a:r>
              <a:rPr lang="ko-KR" altLang="en-US" sz="900" dirty="0"/>
              <a:t>로 값 정규화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1100" b="1" dirty="0">
                <a:solidFill>
                  <a:srgbClr val="0070C0"/>
                </a:solidFill>
              </a:rPr>
              <a:t>Input Std Dev 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입력 </a:t>
            </a:r>
            <a:r>
              <a:rPr lang="ko-KR" altLang="en-US" sz="900" dirty="0" err="1"/>
              <a:t>텐서</a:t>
            </a:r>
            <a:r>
              <a:rPr lang="ko-KR" altLang="en-US" sz="900" dirty="0"/>
              <a:t> 값들의 표준편차</a:t>
            </a:r>
            <a:r>
              <a:rPr lang="en-US" altLang="ko-KR" sz="900" dirty="0"/>
              <a:t>. </a:t>
            </a:r>
            <a:r>
              <a:rPr lang="ko-KR" altLang="en-US" sz="900" dirty="0"/>
              <a:t>데이터 분포의 퍼짐 정도 파악</a:t>
            </a:r>
            <a:r>
              <a:rPr lang="en-US" altLang="ko-KR" sz="900" dirty="0"/>
              <a:t>, tanh</a:t>
            </a:r>
            <a:r>
              <a:rPr lang="ko-KR" altLang="en-US" sz="900" dirty="0"/>
              <a:t>로 값 정규화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1100" b="1" dirty="0" err="1">
                <a:solidFill>
                  <a:srgbClr val="0070C0"/>
                </a:solidFill>
              </a:rPr>
              <a:t>Rmse</a:t>
            </a:r>
            <a:r>
              <a:rPr lang="en-US" altLang="ko-KR" sz="1100" b="1" dirty="0">
                <a:solidFill>
                  <a:srgbClr val="0070C0"/>
                </a:solidFill>
              </a:rPr>
              <a:t>/scale 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이전까지의 양자화 결정된 </a:t>
            </a:r>
            <a:r>
              <a:rPr lang="en-US" altLang="ko-KR" sz="900" dirty="0"/>
              <a:t>layer +</a:t>
            </a:r>
            <a:r>
              <a:rPr lang="ko-KR" altLang="en-US" sz="900" dirty="0"/>
              <a:t> 해당 </a:t>
            </a:r>
            <a:r>
              <a:rPr lang="en-US" altLang="ko-KR" sz="900" dirty="0"/>
              <a:t>layer</a:t>
            </a:r>
            <a:r>
              <a:rPr lang="ko-KR" altLang="en-US" sz="900" dirty="0"/>
              <a:t>를 양자화 했을 경우에 대한 해당 </a:t>
            </a:r>
            <a:r>
              <a:rPr lang="en-US" altLang="ko-KR" sz="900" dirty="0"/>
              <a:t>layer </a:t>
            </a:r>
            <a:r>
              <a:rPr lang="ko-KR" altLang="en-US" sz="900" dirty="0"/>
              <a:t>상에서의 </a:t>
            </a:r>
            <a:r>
              <a:rPr lang="en-US" altLang="ko-KR" sz="900" dirty="0" err="1"/>
              <a:t>rmse</a:t>
            </a:r>
            <a:r>
              <a:rPr lang="en-US" altLang="ko-KR" sz="900" dirty="0"/>
              <a:t>/scale </a:t>
            </a:r>
            <a:r>
              <a:rPr lang="ko-KR" altLang="en-US" sz="900" dirty="0"/>
              <a:t>값 </a:t>
            </a:r>
            <a:r>
              <a:rPr lang="en-US" altLang="ko-KR" sz="900" dirty="0"/>
              <a:t>(f32 vs int8)</a:t>
            </a:r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Sensitivity mean 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현재까지 양자화되었던 레이어의 민감도에 대한 평균개수</a:t>
            </a:r>
            <a:r>
              <a:rPr lang="en-US" altLang="ko-KR" sz="900" dirty="0"/>
              <a:t>, </a:t>
            </a:r>
            <a:r>
              <a:rPr lang="ko-KR" altLang="en-US" sz="900" dirty="0"/>
              <a:t>전체 레이어 대비 비율로서 정규화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r>
              <a:rPr lang="en-US" altLang="ko-KR" sz="1100" dirty="0"/>
              <a:t>Quantized Count 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현재까지 양자화된 레이어의 개수</a:t>
            </a:r>
            <a:r>
              <a:rPr lang="en-US" altLang="ko-KR" sz="900" dirty="0"/>
              <a:t>, </a:t>
            </a:r>
            <a:r>
              <a:rPr lang="ko-KR" altLang="en-US" sz="900" dirty="0"/>
              <a:t>전체 레이어 대비 비율로서 정규화</a:t>
            </a:r>
            <a:endParaRPr lang="en-US" altLang="ko-KR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3A806-2D60-0F00-DA3C-89D1C0BEC35A}"/>
              </a:ext>
            </a:extLst>
          </p:cNvPr>
          <p:cNvSpPr txBox="1"/>
          <p:nvPr/>
        </p:nvSpPr>
        <p:spPr>
          <a:xfrm>
            <a:off x="7896463" y="1539104"/>
            <a:ext cx="3766800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b="1" dirty="0">
                <a:solidFill>
                  <a:srgbClr val="0070C0"/>
                </a:solidFill>
              </a:rPr>
              <a:t>파란색 </a:t>
            </a:r>
            <a:r>
              <a:rPr lang="en-US" altLang="ko-KR" sz="1200" b="1" dirty="0">
                <a:solidFill>
                  <a:srgbClr val="0070C0"/>
                </a:solidFill>
              </a:rPr>
              <a:t>State</a:t>
            </a:r>
            <a:r>
              <a:rPr lang="ko-KR" altLang="en-US" sz="1200" dirty="0"/>
              <a:t>의 경우</a:t>
            </a:r>
            <a:endParaRPr lang="en-US" altLang="ko-KR" sz="1200" dirty="0"/>
          </a:p>
          <a:p>
            <a:r>
              <a:rPr lang="ko-KR" altLang="en-US" sz="1200" dirty="0"/>
              <a:t>미리 양자화 처리를 해서 </a:t>
            </a:r>
            <a:r>
              <a:rPr lang="en-US" altLang="ko-KR" sz="1200" dirty="0"/>
              <a:t>Inference</a:t>
            </a:r>
            <a:r>
              <a:rPr lang="ko-KR" altLang="en-US" sz="1200" dirty="0"/>
              <a:t>가 필요한 정보임</a:t>
            </a:r>
          </a:p>
        </p:txBody>
      </p:sp>
    </p:spTree>
    <p:extLst>
      <p:ext uri="{BB962C8B-B14F-4D97-AF65-F5344CB8AC3E}">
        <p14:creationId xmlns:p14="http://schemas.microsoft.com/office/powerpoint/2010/main" val="2945735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A114-9458-4D1D-3274-09C16A6A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6D6AF-9845-F784-34F9-0BA9B1FE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State, action, reward </a:t>
            </a:r>
            <a:r>
              <a:rPr lang="ko-KR" altLang="en-US" sz="4000" dirty="0"/>
              <a:t>설계 설명</a:t>
            </a:r>
            <a:endParaRPr lang="en-US" altLang="ko-KR" sz="40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6F065E3A-A8F4-B476-C2D9-84101A66FCC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b="1" dirty="0"/>
              <a:t>Reward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R = w1 * </a:t>
            </a:r>
            <a:r>
              <a:rPr lang="en-US" altLang="ko-KR" dirty="0" err="1"/>
              <a:t>r_quant</a:t>
            </a:r>
            <a:r>
              <a:rPr lang="en-US" altLang="ko-KR" dirty="0"/>
              <a:t> + w2 * </a:t>
            </a:r>
            <a:r>
              <a:rPr lang="en-US" altLang="ko-KR" dirty="0" err="1"/>
              <a:t>r_acc</a:t>
            </a:r>
            <a:r>
              <a:rPr lang="en-US" altLang="ko-KR" dirty="0"/>
              <a:t>  </a:t>
            </a:r>
            <a:r>
              <a:rPr lang="en-US" altLang="ko-KR" sz="1200" i="1" dirty="0"/>
              <a:t>(w1, w2</a:t>
            </a:r>
            <a:r>
              <a:rPr lang="ko-KR" altLang="en-US" sz="1200" i="1" dirty="0"/>
              <a:t>는 </a:t>
            </a:r>
            <a:r>
              <a:rPr lang="en-US" altLang="ko-KR" sz="1200" i="1" dirty="0"/>
              <a:t>hyper-parameter)</a:t>
            </a:r>
            <a:br>
              <a:rPr lang="en-US" altLang="ko-KR" sz="1200" i="1" dirty="0"/>
            </a:br>
            <a:endParaRPr lang="ko-KR" altLang="en-US" i="1" dirty="0"/>
          </a:p>
          <a:p>
            <a:pPr lvl="1" fontAlgn="base">
              <a:lnSpc>
                <a:spcPct val="100000"/>
              </a:lnSpc>
            </a:pPr>
            <a:r>
              <a:rPr lang="ko-KR" altLang="en-US" b="1" dirty="0"/>
              <a:t>양자화 여부 </a:t>
            </a:r>
            <a:r>
              <a:rPr lang="en-US" altLang="ko-KR" b="1" dirty="0"/>
              <a:t>(</a:t>
            </a:r>
            <a:r>
              <a:rPr lang="en-US" altLang="ko-KR" b="1" dirty="0" err="1"/>
              <a:t>r_quant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ko-KR" altLang="en-US" dirty="0"/>
              <a:t>해당 </a:t>
            </a:r>
            <a:r>
              <a:rPr lang="en-US" altLang="ko-KR" dirty="0"/>
              <a:t>layer</a:t>
            </a:r>
            <a:r>
              <a:rPr lang="ko-KR" altLang="en-US" dirty="0"/>
              <a:t>가 양자화 된 경우 </a:t>
            </a:r>
            <a:r>
              <a:rPr lang="en-US" altLang="ko-KR" dirty="0"/>
              <a:t>1, </a:t>
            </a:r>
            <a:r>
              <a:rPr lang="ko-KR" altLang="en-US" dirty="0"/>
              <a:t>아닌 경우 </a:t>
            </a:r>
            <a:r>
              <a:rPr lang="en-US" altLang="ko-KR" dirty="0"/>
              <a:t>0</a:t>
            </a:r>
            <a:br>
              <a:rPr lang="en-US" altLang="ko-KR" dirty="0"/>
            </a:br>
            <a:endParaRPr lang="ko-KR" altLang="en-US" dirty="0"/>
          </a:p>
          <a:p>
            <a:pPr lvl="1" fontAlgn="base">
              <a:lnSpc>
                <a:spcPct val="100000"/>
              </a:lnSpc>
            </a:pPr>
            <a:r>
              <a:rPr lang="ko-KR" altLang="en-US" b="1" dirty="0"/>
              <a:t>정확도 손실 최소화 </a:t>
            </a:r>
            <a:r>
              <a:rPr lang="en-US" altLang="ko-KR" b="1" dirty="0"/>
              <a:t>(</a:t>
            </a:r>
            <a:r>
              <a:rPr lang="en-US" altLang="ko-KR" b="1" dirty="0" err="1"/>
              <a:t>r_acc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ko-KR" altLang="en-US" dirty="0"/>
              <a:t>현재까지의 양자화 </a:t>
            </a:r>
            <a:r>
              <a:rPr lang="en-US" altLang="ko-KR" dirty="0"/>
              <a:t>history</a:t>
            </a:r>
            <a:r>
              <a:rPr lang="ko-KR" altLang="en-US" dirty="0"/>
              <a:t>를 적용한 뒤의 마지막 </a:t>
            </a:r>
            <a:r>
              <a:rPr lang="en-US" altLang="ko-KR" dirty="0"/>
              <a:t>layer </a:t>
            </a:r>
            <a:r>
              <a:rPr lang="ko-KR" altLang="en-US" dirty="0"/>
              <a:t>출력을</a:t>
            </a:r>
            <a:r>
              <a:rPr lang="en-US" altLang="ko-KR" dirty="0"/>
              <a:t> </a:t>
            </a:r>
            <a:r>
              <a:rPr lang="ko-KR" altLang="en-US" dirty="0"/>
              <a:t>사용하여 </a:t>
            </a:r>
            <a:r>
              <a:rPr lang="en-US" altLang="ko-KR" dirty="0"/>
              <a:t>f32</a:t>
            </a:r>
            <a:r>
              <a:rPr lang="ko-KR" altLang="en-US" dirty="0"/>
              <a:t>와 </a:t>
            </a:r>
            <a:r>
              <a:rPr lang="en-US" altLang="ko-KR" dirty="0"/>
              <a:t>int8</a:t>
            </a:r>
            <a:r>
              <a:rPr lang="ko-KR" altLang="en-US" dirty="0"/>
              <a:t>간의 </a:t>
            </a:r>
            <a:r>
              <a:rPr lang="en-US" altLang="ko-KR" dirty="0"/>
              <a:t>MSE(Mean Squared Error)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2" fontAlgn="base">
              <a:lnSpc>
                <a:spcPct val="100000"/>
              </a:lnSpc>
            </a:pPr>
            <a:r>
              <a:rPr lang="en-US" altLang="ko-KR" dirty="0"/>
              <a:t>tanh</a:t>
            </a:r>
            <a:r>
              <a:rPr lang="ko-KR" altLang="en-US" dirty="0"/>
              <a:t>를 통해 </a:t>
            </a:r>
            <a:r>
              <a:rPr lang="en-US" altLang="ko-KR" dirty="0"/>
              <a:t>-1 ~ 1 </a:t>
            </a:r>
            <a:r>
              <a:rPr lang="ko-KR" altLang="en-US" dirty="0"/>
              <a:t>사이로 </a:t>
            </a:r>
            <a:r>
              <a:rPr lang="ko-KR" altLang="en-US" dirty="0" err="1"/>
              <a:t>정규화하여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2" fontAlgn="base">
              <a:lnSpc>
                <a:spcPct val="100000"/>
              </a:lnSpc>
            </a:pPr>
            <a:r>
              <a:rPr lang="ko-KR" altLang="en-US" dirty="0"/>
              <a:t>기존 </a:t>
            </a:r>
            <a:r>
              <a:rPr lang="en-US" altLang="ko-KR" dirty="0"/>
              <a:t>RMSE/scale</a:t>
            </a:r>
            <a:r>
              <a:rPr lang="ko-KR" altLang="en-US" dirty="0"/>
              <a:t>은 특정 </a:t>
            </a:r>
            <a:r>
              <a:rPr lang="en-US" altLang="ko-KR" dirty="0"/>
              <a:t>layer</a:t>
            </a:r>
            <a:r>
              <a:rPr lang="ko-KR" altLang="en-US" dirty="0"/>
              <a:t>에 대한 </a:t>
            </a:r>
            <a:r>
              <a:rPr lang="en-US" altLang="ko-KR" dirty="0"/>
              <a:t>Local MSE</a:t>
            </a:r>
            <a:r>
              <a:rPr lang="ko-KR" altLang="en-US" dirty="0"/>
              <a:t>라고 볼 수 있음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1883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3125B-F0FB-3FDF-42AC-CDC0106E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03510-0548-A544-1646-F5CA8048D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강화학습 알고리즘</a:t>
            </a:r>
            <a:endParaRPr lang="en-US" altLang="ko-KR" sz="40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BFB0557F-F94C-D356-E787-E08560E3DC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사전 작업</a:t>
            </a:r>
            <a:endParaRPr lang="en-US" altLang="ko-KR" b="1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Static model</a:t>
            </a:r>
            <a:r>
              <a:rPr lang="ko-KR" altLang="en-US" dirty="0"/>
              <a:t>의 </a:t>
            </a:r>
            <a:r>
              <a:rPr lang="en-US" altLang="ko-KR" dirty="0"/>
              <a:t>layer </a:t>
            </a:r>
            <a:r>
              <a:rPr lang="ko-KR" altLang="en-US" dirty="0"/>
              <a:t>순서를 토폴로지 </a:t>
            </a:r>
            <a:r>
              <a:rPr lang="en-US" altLang="ko-KR" dirty="0"/>
              <a:t>sort</a:t>
            </a:r>
            <a:r>
              <a:rPr lang="ko-KR" altLang="en-US" dirty="0"/>
              <a:t>를 통해 </a:t>
            </a:r>
            <a:r>
              <a:rPr lang="en-US" altLang="ko-KR" dirty="0"/>
              <a:t>in-&gt;out </a:t>
            </a:r>
            <a:r>
              <a:rPr lang="ko-KR" altLang="en-US" dirty="0"/>
              <a:t>순서 배치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Weight </a:t>
            </a:r>
            <a:r>
              <a:rPr lang="ko-KR" altLang="en-US" dirty="0"/>
              <a:t>등 미리 사전에 통계치를 뽑아낼 수 있는 처리 수행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49EA74-0417-AAF7-878C-07A837D71FF8}"/>
              </a:ext>
            </a:extLst>
          </p:cNvPr>
          <p:cNvSpPr/>
          <p:nvPr/>
        </p:nvSpPr>
        <p:spPr>
          <a:xfrm>
            <a:off x="1779038" y="3659382"/>
            <a:ext cx="2127379" cy="4416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Layer1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A32DB4-6126-8325-5870-638B94DC164D}"/>
              </a:ext>
            </a:extLst>
          </p:cNvPr>
          <p:cNvSpPr/>
          <p:nvPr/>
        </p:nvSpPr>
        <p:spPr>
          <a:xfrm>
            <a:off x="1779038" y="4443153"/>
            <a:ext cx="2127379" cy="4416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Layer2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02F52F-AD90-5244-BB9A-52DE801C2D35}"/>
              </a:ext>
            </a:extLst>
          </p:cNvPr>
          <p:cNvSpPr/>
          <p:nvPr/>
        </p:nvSpPr>
        <p:spPr>
          <a:xfrm>
            <a:off x="1779038" y="5226924"/>
            <a:ext cx="2127379" cy="4416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Layer3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9229B3-8F73-C889-6091-5330C6349EA7}"/>
              </a:ext>
            </a:extLst>
          </p:cNvPr>
          <p:cNvSpPr/>
          <p:nvPr/>
        </p:nvSpPr>
        <p:spPr>
          <a:xfrm>
            <a:off x="1779037" y="6020124"/>
            <a:ext cx="2127379" cy="4416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Layer4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C7C8211-1EDE-F488-614D-E9303B53A6A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842728" y="4101031"/>
            <a:ext cx="0" cy="342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72CBFBF-7987-06B5-9E44-449F4698739D}"/>
              </a:ext>
            </a:extLst>
          </p:cNvPr>
          <p:cNvCxnSpPr>
            <a:cxnSpLocks/>
            <a:stCxn id="5" idx="1"/>
            <a:endCxn id="8" idx="1"/>
          </p:cNvCxnSpPr>
          <p:nvPr/>
        </p:nvCxnSpPr>
        <p:spPr>
          <a:xfrm rot="10800000" flipV="1">
            <a:off x="1779038" y="3880207"/>
            <a:ext cx="1" cy="2360742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B88C506-9197-65E4-F02B-132CF4BFEE0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842728" y="4884802"/>
            <a:ext cx="0" cy="342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B91D864A-BCFE-8BE0-66CC-B92F2A968E35}"/>
              </a:ext>
            </a:extLst>
          </p:cNvPr>
          <p:cNvCxnSpPr>
            <a:cxnSpLocks/>
            <a:stCxn id="8" idx="3"/>
            <a:endCxn id="6" idx="3"/>
          </p:cNvCxnSpPr>
          <p:nvPr/>
        </p:nvCxnSpPr>
        <p:spPr>
          <a:xfrm flipV="1">
            <a:off x="3906416" y="4663978"/>
            <a:ext cx="1" cy="1576971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8CC702B-451D-DC7C-FACD-AE0850EB3559}"/>
              </a:ext>
            </a:extLst>
          </p:cNvPr>
          <p:cNvSpPr/>
          <p:nvPr/>
        </p:nvSpPr>
        <p:spPr>
          <a:xfrm>
            <a:off x="7654213" y="3590552"/>
            <a:ext cx="2127379" cy="4416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Layer1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78D7261-27A3-CDD1-9D20-2408C9D9A9CC}"/>
              </a:ext>
            </a:extLst>
          </p:cNvPr>
          <p:cNvSpPr/>
          <p:nvPr/>
        </p:nvSpPr>
        <p:spPr>
          <a:xfrm>
            <a:off x="8010331" y="5102110"/>
            <a:ext cx="2127379" cy="4416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Layer2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0398475-A1F2-274D-CD9C-47D5797CD4D5}"/>
              </a:ext>
            </a:extLst>
          </p:cNvPr>
          <p:cNvSpPr/>
          <p:nvPr/>
        </p:nvSpPr>
        <p:spPr>
          <a:xfrm>
            <a:off x="8010330" y="5896914"/>
            <a:ext cx="2127379" cy="4416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Layer3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867CEA2-0785-4789-C6D2-18A1FD4F97C3}"/>
              </a:ext>
            </a:extLst>
          </p:cNvPr>
          <p:cNvSpPr/>
          <p:nvPr/>
        </p:nvSpPr>
        <p:spPr>
          <a:xfrm>
            <a:off x="6414797" y="4372168"/>
            <a:ext cx="2127379" cy="4416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Layer4</a:t>
            </a:r>
            <a:endParaRPr lang="ko-KR" altLang="en-US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28DBF30-26C2-13EC-9F68-4E86998EB48C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8717903" y="4032201"/>
            <a:ext cx="356118" cy="1069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459544E7-BC01-5E8C-B9A9-977286A28AE7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 flipH="1">
            <a:off x="9074020" y="5543759"/>
            <a:ext cx="1" cy="353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C5E39D4-AFDC-6525-3A4C-26B75F892A82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 flipH="1">
            <a:off x="7478487" y="4032201"/>
            <a:ext cx="1239416" cy="339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70E9B87-99B8-836F-48B5-651C8ECB963B}"/>
              </a:ext>
            </a:extLst>
          </p:cNvPr>
          <p:cNvCxnSpPr>
            <a:cxnSpLocks/>
            <a:stCxn id="45" idx="2"/>
            <a:endCxn id="43" idx="1"/>
          </p:cNvCxnSpPr>
          <p:nvPr/>
        </p:nvCxnSpPr>
        <p:spPr>
          <a:xfrm>
            <a:off x="7478487" y="4813817"/>
            <a:ext cx="531844" cy="509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화살표: 아래쪽 67">
            <a:extLst>
              <a:ext uri="{FF2B5EF4-FFF2-40B4-BE49-F238E27FC236}">
                <a16:creationId xmlns:a16="http://schemas.microsoft.com/office/drawing/2014/main" id="{9736807E-36DD-64CD-E126-3047E4F6AD05}"/>
              </a:ext>
            </a:extLst>
          </p:cNvPr>
          <p:cNvSpPr/>
          <p:nvPr/>
        </p:nvSpPr>
        <p:spPr>
          <a:xfrm>
            <a:off x="4484915" y="3659382"/>
            <a:ext cx="419875" cy="2802391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화살표: 아래쪽 68">
            <a:extLst>
              <a:ext uri="{FF2B5EF4-FFF2-40B4-BE49-F238E27FC236}">
                <a16:creationId xmlns:a16="http://schemas.microsoft.com/office/drawing/2014/main" id="{A3049F58-4EB1-F20F-ABB8-394E7C34D2B9}"/>
              </a:ext>
            </a:extLst>
          </p:cNvPr>
          <p:cNvSpPr/>
          <p:nvPr/>
        </p:nvSpPr>
        <p:spPr>
          <a:xfrm>
            <a:off x="10489164" y="3646941"/>
            <a:ext cx="419875" cy="2802391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화살표: 오른쪽 69">
            <a:extLst>
              <a:ext uri="{FF2B5EF4-FFF2-40B4-BE49-F238E27FC236}">
                <a16:creationId xmlns:a16="http://schemas.microsoft.com/office/drawing/2014/main" id="{7FEE00CB-4E6C-FAD2-6DBF-024F5180E929}"/>
              </a:ext>
            </a:extLst>
          </p:cNvPr>
          <p:cNvSpPr/>
          <p:nvPr/>
        </p:nvSpPr>
        <p:spPr>
          <a:xfrm>
            <a:off x="5571930" y="4599992"/>
            <a:ext cx="707572" cy="8224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17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4AA8-A5AD-300F-0B4D-BE01F21B0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C28A5-B390-B727-CD02-61F7E5A9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강화학습 알고리즘</a:t>
            </a:r>
            <a:endParaRPr lang="en-US" altLang="ko-KR" sz="4000" dirty="0"/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20B31BCF-C9C1-39A6-EC0A-1CF5D9B88D83}"/>
              </a:ext>
            </a:extLst>
          </p:cNvPr>
          <p:cNvGrpSpPr/>
          <p:nvPr/>
        </p:nvGrpSpPr>
        <p:grpSpPr>
          <a:xfrm>
            <a:off x="1561323" y="1584426"/>
            <a:ext cx="8884246" cy="5039127"/>
            <a:chOff x="2749421" y="1410255"/>
            <a:chExt cx="8884246" cy="5039127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6024423-C050-F3E3-24DE-7DE9DCD080C4}"/>
                </a:ext>
              </a:extLst>
            </p:cNvPr>
            <p:cNvSpPr/>
            <p:nvPr/>
          </p:nvSpPr>
          <p:spPr>
            <a:xfrm>
              <a:off x="8797161" y="2145049"/>
              <a:ext cx="2836506" cy="4976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ysClr val="windowText" lastClr="000000"/>
                  </a:solidFill>
                </a:rPr>
                <a:t>a1 = pi(s1)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84B139E-70D8-5944-7176-4DDCBDCC3539}"/>
                </a:ext>
              </a:extLst>
            </p:cNvPr>
            <p:cNvSpPr/>
            <p:nvPr/>
          </p:nvSpPr>
          <p:spPr>
            <a:xfrm>
              <a:off x="2749422" y="2106670"/>
              <a:ext cx="1834030" cy="36975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Layer1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277EADF-5BF1-BD6E-888F-79F5467C186A}"/>
                </a:ext>
              </a:extLst>
            </p:cNvPr>
            <p:cNvSpPr/>
            <p:nvPr/>
          </p:nvSpPr>
          <p:spPr>
            <a:xfrm>
              <a:off x="2749422" y="3203338"/>
              <a:ext cx="1834030" cy="36975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Layer2</a:t>
              </a:r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8A3FD34-0359-8541-6A36-EDB223D87F07}"/>
                </a:ext>
              </a:extLst>
            </p:cNvPr>
            <p:cNvSpPr/>
            <p:nvPr/>
          </p:nvSpPr>
          <p:spPr>
            <a:xfrm>
              <a:off x="2749422" y="4300007"/>
              <a:ext cx="1834030" cy="36975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LayerN-1</a:t>
              </a:r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40D68F-0E72-179B-A3B6-3AF9388E1970}"/>
                </a:ext>
              </a:extLst>
            </p:cNvPr>
            <p:cNvSpPr/>
            <p:nvPr/>
          </p:nvSpPr>
          <p:spPr>
            <a:xfrm>
              <a:off x="2749421" y="5315702"/>
              <a:ext cx="1834030" cy="36975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LayerN</a:t>
              </a:r>
              <a:endParaRPr lang="ko-KR" altLang="en-US" dirty="0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306AAC4A-A16A-B397-1EF2-1770E9932B20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666437" y="2476421"/>
              <a:ext cx="0" cy="7269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2DCACC33-9E1F-EFE7-2401-0D04EF681F4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3666437" y="3947319"/>
              <a:ext cx="0" cy="352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BB1B2A9D-E6F9-C400-5493-94F70B2EC1C4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3666436" y="4669758"/>
              <a:ext cx="1" cy="64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0F2B61C-8B2A-ADFB-AACC-D4A264C01C67}"/>
                </a:ext>
              </a:extLst>
            </p:cNvPr>
            <p:cNvSpPr/>
            <p:nvPr/>
          </p:nvSpPr>
          <p:spPr>
            <a:xfrm>
              <a:off x="6219063" y="1533083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ysClr val="windowText" lastClr="000000"/>
                  </a:solidFill>
                </a:rPr>
                <a:t>reset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1E0EB09-D16A-00DD-D3B0-6AD8552A28DE}"/>
                </a:ext>
              </a:extLst>
            </p:cNvPr>
            <p:cNvSpPr/>
            <p:nvPr/>
          </p:nvSpPr>
          <p:spPr>
            <a:xfrm>
              <a:off x="6244536" y="2727783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ysClr val="windowText" lastClr="000000"/>
                  </a:solidFill>
                </a:rPr>
                <a:t>step(a1)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3EF50E6A-4FE7-C51C-45CC-307178630FB6}"/>
                </a:ext>
              </a:extLst>
            </p:cNvPr>
            <p:cNvCxnSpPr>
              <a:cxnSpLocks/>
              <a:stCxn id="13" idx="2"/>
              <a:endCxn id="5" idx="3"/>
            </p:cNvCxnSpPr>
            <p:nvPr/>
          </p:nvCxnSpPr>
          <p:spPr>
            <a:xfrm rot="10800000" flipV="1">
              <a:off x="4583452" y="1741394"/>
              <a:ext cx="1635611" cy="55015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0663389D-E461-C8F4-DE51-1376ECA56381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V="1">
              <a:off x="4599539" y="2395252"/>
              <a:ext cx="1199898" cy="11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원통형 20">
              <a:extLst>
                <a:ext uri="{FF2B5EF4-FFF2-40B4-BE49-F238E27FC236}">
                  <a16:creationId xmlns:a16="http://schemas.microsoft.com/office/drawing/2014/main" id="{F382ADCA-55AF-0ED8-D891-DA4158F93967}"/>
                </a:ext>
              </a:extLst>
            </p:cNvPr>
            <p:cNvSpPr/>
            <p:nvPr/>
          </p:nvSpPr>
          <p:spPr>
            <a:xfrm>
              <a:off x="5799436" y="2240517"/>
              <a:ext cx="445100" cy="30946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9A1DEED2-F3F6-8FF1-5D8C-5E2DA57EA185}"/>
                </a:ext>
              </a:extLst>
            </p:cNvPr>
            <p:cNvCxnSpPr>
              <a:cxnSpLocks/>
              <a:stCxn id="16" idx="2"/>
              <a:endCxn id="6" idx="3"/>
            </p:cNvCxnSpPr>
            <p:nvPr/>
          </p:nvCxnSpPr>
          <p:spPr>
            <a:xfrm rot="10800000" flipV="1">
              <a:off x="4583452" y="2936093"/>
              <a:ext cx="1661085" cy="45212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DD8109A7-890E-AB90-D617-E7157FB783A7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V="1">
              <a:off x="4599539" y="3480652"/>
              <a:ext cx="1199898" cy="11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원통형 31">
              <a:extLst>
                <a:ext uri="{FF2B5EF4-FFF2-40B4-BE49-F238E27FC236}">
                  <a16:creationId xmlns:a16="http://schemas.microsoft.com/office/drawing/2014/main" id="{0BCBA438-6E26-3937-0532-D496F3ED3E3C}"/>
                </a:ext>
              </a:extLst>
            </p:cNvPr>
            <p:cNvSpPr/>
            <p:nvPr/>
          </p:nvSpPr>
          <p:spPr>
            <a:xfrm>
              <a:off x="5799436" y="3325917"/>
              <a:ext cx="445100" cy="30946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E296736-02BC-A40A-DF26-9FDB5827E382}"/>
                </a:ext>
              </a:extLst>
            </p:cNvPr>
            <p:cNvSpPr/>
            <p:nvPr/>
          </p:nvSpPr>
          <p:spPr>
            <a:xfrm>
              <a:off x="6244536" y="3818617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ysClr val="windowText" lastClr="000000"/>
                  </a:solidFill>
                </a:rPr>
                <a:t>step(a2)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41" name="연결선: 꺾임 40">
              <a:extLst>
                <a:ext uri="{FF2B5EF4-FFF2-40B4-BE49-F238E27FC236}">
                  <a16:creationId xmlns:a16="http://schemas.microsoft.com/office/drawing/2014/main" id="{FB2E9402-8062-B0F9-901A-FFBA14DF0CD7}"/>
                </a:ext>
              </a:extLst>
            </p:cNvPr>
            <p:cNvCxnSpPr>
              <a:cxnSpLocks/>
              <a:stCxn id="40" idx="2"/>
              <a:endCxn id="7" idx="3"/>
            </p:cNvCxnSpPr>
            <p:nvPr/>
          </p:nvCxnSpPr>
          <p:spPr>
            <a:xfrm rot="10800000" flipV="1">
              <a:off x="4583452" y="4026928"/>
              <a:ext cx="1661085" cy="45795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B16E546F-906A-F16D-2CEF-F918451E3C44}"/>
                </a:ext>
              </a:extLst>
            </p:cNvPr>
            <p:cNvSpPr/>
            <p:nvPr/>
          </p:nvSpPr>
          <p:spPr>
            <a:xfrm>
              <a:off x="6298162" y="4832179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ysClr val="windowText" lastClr="000000"/>
                  </a:solidFill>
                </a:rPr>
                <a:t>step(aN_1)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2" name="연결선: 꺾임 51">
              <a:extLst>
                <a:ext uri="{FF2B5EF4-FFF2-40B4-BE49-F238E27FC236}">
                  <a16:creationId xmlns:a16="http://schemas.microsoft.com/office/drawing/2014/main" id="{A1B01766-7921-20CB-B7CD-493E6EB01943}"/>
                </a:ext>
              </a:extLst>
            </p:cNvPr>
            <p:cNvCxnSpPr>
              <a:cxnSpLocks/>
              <a:stCxn id="51" idx="2"/>
              <a:endCxn id="8" idx="3"/>
            </p:cNvCxnSpPr>
            <p:nvPr/>
          </p:nvCxnSpPr>
          <p:spPr>
            <a:xfrm rot="10800000" flipV="1">
              <a:off x="4583452" y="5040490"/>
              <a:ext cx="1714711" cy="46008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764E5C61-C65D-44BF-AB3A-F01578CFB5C8}"/>
                </a:ext>
              </a:extLst>
            </p:cNvPr>
            <p:cNvSpPr/>
            <p:nvPr/>
          </p:nvSpPr>
          <p:spPr>
            <a:xfrm>
              <a:off x="6244536" y="6032760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ysClr val="windowText" lastClr="000000"/>
                  </a:solidFill>
                </a:rPr>
                <a:t>step(</a:t>
              </a:r>
              <a:r>
                <a:rPr lang="en-US" altLang="ko-KR" b="1" dirty="0" err="1">
                  <a:solidFill>
                    <a:sysClr val="windowText" lastClr="000000"/>
                  </a:solidFill>
                </a:rPr>
                <a:t>aN</a:t>
              </a:r>
              <a:r>
                <a:rPr lang="en-US" altLang="ko-KR" b="1" dirty="0">
                  <a:solidFill>
                    <a:sysClr val="windowText" lastClr="000000"/>
                  </a:solidFill>
                </a:rPr>
                <a:t>)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F5967F76-230D-0EDB-8E74-85775A46C329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4599539" y="4585176"/>
              <a:ext cx="1199898" cy="11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원통형 59">
              <a:extLst>
                <a:ext uri="{FF2B5EF4-FFF2-40B4-BE49-F238E27FC236}">
                  <a16:creationId xmlns:a16="http://schemas.microsoft.com/office/drawing/2014/main" id="{D603F1E8-8432-8581-69CD-09D8DE3E4AF5}"/>
                </a:ext>
              </a:extLst>
            </p:cNvPr>
            <p:cNvSpPr/>
            <p:nvPr/>
          </p:nvSpPr>
          <p:spPr>
            <a:xfrm>
              <a:off x="5799436" y="4430441"/>
              <a:ext cx="445100" cy="30946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N-1</a:t>
              </a:r>
              <a:endParaRPr lang="ko-KR" altLang="en-US" sz="1200" dirty="0"/>
            </a:p>
          </p:txBody>
        </p: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FAFDD45C-FD11-49F7-0DD7-9E28AF70B324}"/>
                </a:ext>
              </a:extLst>
            </p:cNvPr>
            <p:cNvCxnSpPr>
              <a:cxnSpLocks/>
              <a:endCxn id="62" idx="2"/>
            </p:cNvCxnSpPr>
            <p:nvPr/>
          </p:nvCxnSpPr>
          <p:spPr>
            <a:xfrm flipV="1">
              <a:off x="4599539" y="5589897"/>
              <a:ext cx="1199898" cy="11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원통형 61">
              <a:extLst>
                <a:ext uri="{FF2B5EF4-FFF2-40B4-BE49-F238E27FC236}">
                  <a16:creationId xmlns:a16="http://schemas.microsoft.com/office/drawing/2014/main" id="{3D27EC93-E1CE-3CAC-27D0-6774D5229B44}"/>
                </a:ext>
              </a:extLst>
            </p:cNvPr>
            <p:cNvSpPr/>
            <p:nvPr/>
          </p:nvSpPr>
          <p:spPr>
            <a:xfrm>
              <a:off x="5799436" y="5435162"/>
              <a:ext cx="445100" cy="30946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</a:t>
              </a:r>
              <a:endParaRPr lang="ko-KR" alt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C165AB2-4375-E61F-4A37-3FDA58B4A232}"/>
                </a:ext>
              </a:extLst>
            </p:cNvPr>
            <p:cNvSpPr txBox="1"/>
            <p:nvPr/>
          </p:nvSpPr>
          <p:spPr>
            <a:xfrm>
              <a:off x="3488342" y="3633638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7663FFB0-0B12-ABFB-BA8F-640EDB607E03}"/>
                </a:ext>
              </a:extLst>
            </p:cNvPr>
            <p:cNvSpPr/>
            <p:nvPr/>
          </p:nvSpPr>
          <p:spPr>
            <a:xfrm>
              <a:off x="8797161" y="3230731"/>
              <a:ext cx="2836506" cy="4976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ysClr val="windowText" lastClr="000000"/>
                  </a:solidFill>
                </a:rPr>
                <a:t>a2 = pi(s2)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528D5A64-D8C2-69A4-81DC-F805BE12256E}"/>
                </a:ext>
              </a:extLst>
            </p:cNvPr>
            <p:cNvSpPr/>
            <p:nvPr/>
          </p:nvSpPr>
          <p:spPr>
            <a:xfrm>
              <a:off x="8797161" y="4334546"/>
              <a:ext cx="2836506" cy="4976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ysClr val="windowText" lastClr="000000"/>
                  </a:solidFill>
                </a:rPr>
                <a:t>aN_1 = pi(sN_1)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194E9606-C41C-2DDC-9551-F17500A7BF9E}"/>
                </a:ext>
              </a:extLst>
            </p:cNvPr>
            <p:cNvSpPr/>
            <p:nvPr/>
          </p:nvSpPr>
          <p:spPr>
            <a:xfrm>
              <a:off x="8797161" y="5342284"/>
              <a:ext cx="2836506" cy="4976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solidFill>
                    <a:sysClr val="windowText" lastClr="000000"/>
                  </a:solidFill>
                </a:rPr>
                <a:t>aN</a:t>
              </a:r>
              <a:r>
                <a:rPr lang="en-US" altLang="ko-KR" b="1" dirty="0">
                  <a:solidFill>
                    <a:sysClr val="windowText" lastClr="000000"/>
                  </a:solidFill>
                </a:rPr>
                <a:t> = pi(</a:t>
              </a:r>
              <a:r>
                <a:rPr lang="en-US" altLang="ko-KR" b="1" dirty="0" err="1">
                  <a:solidFill>
                    <a:sysClr val="windowText" lastClr="000000"/>
                  </a:solidFill>
                </a:rPr>
                <a:t>sN</a:t>
              </a:r>
              <a:r>
                <a:rPr lang="en-US" altLang="ko-KR" b="1" dirty="0">
                  <a:solidFill>
                    <a:sysClr val="windowText" lastClr="000000"/>
                  </a:solidFill>
                </a:rPr>
                <a:t>)</a:t>
              </a:r>
              <a:endParaRPr lang="ko-KR" altLang="en-US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1E588131-69FB-B5FF-4E16-9B7D657DC8A8}"/>
                </a:ext>
              </a:extLst>
            </p:cNvPr>
            <p:cNvCxnSpPr>
              <a:cxnSpLocks/>
              <a:stCxn id="21" idx="4"/>
              <a:endCxn id="15" idx="2"/>
            </p:cNvCxnSpPr>
            <p:nvPr/>
          </p:nvCxnSpPr>
          <p:spPr>
            <a:xfrm flipV="1">
              <a:off x="6244536" y="2393866"/>
              <a:ext cx="2552625" cy="138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연결선: 꺾임 79">
              <a:extLst>
                <a:ext uri="{FF2B5EF4-FFF2-40B4-BE49-F238E27FC236}">
                  <a16:creationId xmlns:a16="http://schemas.microsoft.com/office/drawing/2014/main" id="{93B18997-40AB-0695-2AB0-844C4BE56D7F}"/>
                </a:ext>
              </a:extLst>
            </p:cNvPr>
            <p:cNvCxnSpPr>
              <a:cxnSpLocks/>
              <a:stCxn id="32" idx="4"/>
              <a:endCxn id="71" idx="2"/>
            </p:cNvCxnSpPr>
            <p:nvPr/>
          </p:nvCxnSpPr>
          <p:spPr>
            <a:xfrm flipV="1">
              <a:off x="6244536" y="3479548"/>
              <a:ext cx="2552625" cy="11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연결선: 꺾임 82">
              <a:extLst>
                <a:ext uri="{FF2B5EF4-FFF2-40B4-BE49-F238E27FC236}">
                  <a16:creationId xmlns:a16="http://schemas.microsoft.com/office/drawing/2014/main" id="{3FB13493-256A-12FC-8CF4-B610AA588249}"/>
                </a:ext>
              </a:extLst>
            </p:cNvPr>
            <p:cNvCxnSpPr>
              <a:cxnSpLocks/>
              <a:stCxn id="60" idx="4"/>
              <a:endCxn id="72" idx="2"/>
            </p:cNvCxnSpPr>
            <p:nvPr/>
          </p:nvCxnSpPr>
          <p:spPr>
            <a:xfrm flipV="1">
              <a:off x="6244536" y="4583363"/>
              <a:ext cx="2552625" cy="181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연결선: 꺾임 85">
              <a:extLst>
                <a:ext uri="{FF2B5EF4-FFF2-40B4-BE49-F238E27FC236}">
                  <a16:creationId xmlns:a16="http://schemas.microsoft.com/office/drawing/2014/main" id="{F34F914C-C3B6-507F-F08E-C27ACF708E5D}"/>
                </a:ext>
              </a:extLst>
            </p:cNvPr>
            <p:cNvCxnSpPr>
              <a:cxnSpLocks/>
              <a:stCxn id="62" idx="4"/>
              <a:endCxn id="73" idx="2"/>
            </p:cNvCxnSpPr>
            <p:nvPr/>
          </p:nvCxnSpPr>
          <p:spPr>
            <a:xfrm>
              <a:off x="6244536" y="5589897"/>
              <a:ext cx="2552625" cy="12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연결선: 구부러짐 90">
              <a:extLst>
                <a:ext uri="{FF2B5EF4-FFF2-40B4-BE49-F238E27FC236}">
                  <a16:creationId xmlns:a16="http://schemas.microsoft.com/office/drawing/2014/main" id="{852AC670-D5FC-1EF7-2C71-F52B9D26C530}"/>
                </a:ext>
              </a:extLst>
            </p:cNvPr>
            <p:cNvCxnSpPr>
              <a:stCxn id="21" idx="3"/>
              <a:endCxn id="16" idx="1"/>
            </p:cNvCxnSpPr>
            <p:nvPr/>
          </p:nvCxnSpPr>
          <p:spPr>
            <a:xfrm rot="16200000" flipH="1">
              <a:off x="6192914" y="2379057"/>
              <a:ext cx="238810" cy="580667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연결선: 구부러짐 91">
              <a:extLst>
                <a:ext uri="{FF2B5EF4-FFF2-40B4-BE49-F238E27FC236}">
                  <a16:creationId xmlns:a16="http://schemas.microsoft.com/office/drawing/2014/main" id="{23C5C517-68F7-02FF-914B-029C300CA50D}"/>
                </a:ext>
              </a:extLst>
            </p:cNvPr>
            <p:cNvCxnSpPr>
              <a:cxnSpLocks/>
              <a:stCxn id="32" idx="3"/>
              <a:endCxn id="40" idx="1"/>
            </p:cNvCxnSpPr>
            <p:nvPr/>
          </p:nvCxnSpPr>
          <p:spPr>
            <a:xfrm rot="16200000" flipH="1">
              <a:off x="6190197" y="3467174"/>
              <a:ext cx="244244" cy="58066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연결선: 구부러짐 94">
              <a:extLst>
                <a:ext uri="{FF2B5EF4-FFF2-40B4-BE49-F238E27FC236}">
                  <a16:creationId xmlns:a16="http://schemas.microsoft.com/office/drawing/2014/main" id="{9D0F011B-0660-86D4-695E-40F999AB143C}"/>
                </a:ext>
              </a:extLst>
            </p:cNvPr>
            <p:cNvCxnSpPr>
              <a:cxnSpLocks/>
              <a:stCxn id="60" idx="3"/>
              <a:endCxn id="51" idx="1"/>
            </p:cNvCxnSpPr>
            <p:nvPr/>
          </p:nvCxnSpPr>
          <p:spPr>
            <a:xfrm rot="16200000" flipH="1">
              <a:off x="6262491" y="4499404"/>
              <a:ext cx="153282" cy="63429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연결선: 구부러짐 97">
              <a:extLst>
                <a:ext uri="{FF2B5EF4-FFF2-40B4-BE49-F238E27FC236}">
                  <a16:creationId xmlns:a16="http://schemas.microsoft.com/office/drawing/2014/main" id="{531EEDBF-A70C-FC2D-A6BB-28E8CAE6E53B}"/>
                </a:ext>
              </a:extLst>
            </p:cNvPr>
            <p:cNvCxnSpPr>
              <a:cxnSpLocks/>
              <a:stCxn id="62" idx="3"/>
              <a:endCxn id="58" idx="1"/>
            </p:cNvCxnSpPr>
            <p:nvPr/>
          </p:nvCxnSpPr>
          <p:spPr>
            <a:xfrm rot="16200000" flipH="1">
              <a:off x="6137748" y="5628868"/>
              <a:ext cx="349142" cy="58066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012E54B-4DF1-071F-5993-922AEF20EFED}"/>
                </a:ext>
              </a:extLst>
            </p:cNvPr>
            <p:cNvSpPr txBox="1"/>
            <p:nvPr/>
          </p:nvSpPr>
          <p:spPr>
            <a:xfrm>
              <a:off x="5710681" y="1410255"/>
              <a:ext cx="28405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77BFD71-E723-0D91-9989-FB96B05AA8FA}"/>
                </a:ext>
              </a:extLst>
            </p:cNvPr>
            <p:cNvSpPr txBox="1"/>
            <p:nvPr/>
          </p:nvSpPr>
          <p:spPr>
            <a:xfrm>
              <a:off x="5034488" y="2353693"/>
              <a:ext cx="28405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9C07CC0-DBBF-9A43-5B8B-428E0C2D3287}"/>
                </a:ext>
              </a:extLst>
            </p:cNvPr>
            <p:cNvSpPr txBox="1"/>
            <p:nvPr/>
          </p:nvSpPr>
          <p:spPr>
            <a:xfrm>
              <a:off x="7106218" y="2227561"/>
              <a:ext cx="28405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5193640-89C6-7C68-2F4B-60EDC935F5E1}"/>
                </a:ext>
              </a:extLst>
            </p:cNvPr>
            <p:cNvSpPr txBox="1"/>
            <p:nvPr/>
          </p:nvSpPr>
          <p:spPr>
            <a:xfrm>
              <a:off x="6191748" y="2544895"/>
              <a:ext cx="28405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04F3611-BB3A-C086-A56B-8E1940316CDB}"/>
                </a:ext>
              </a:extLst>
            </p:cNvPr>
            <p:cNvSpPr txBox="1"/>
            <p:nvPr/>
          </p:nvSpPr>
          <p:spPr>
            <a:xfrm>
              <a:off x="5571867" y="2814106"/>
              <a:ext cx="28405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5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76953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37E5-EDD0-2712-6539-CF8741D8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08D1E-4F64-1524-0ADC-7C92592A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강화학습 알고리즘</a:t>
            </a:r>
            <a:endParaRPr lang="en-US" altLang="ko-KR" sz="4000" dirty="0"/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CB08EB9F-74C8-86CA-28B8-F84791A0C23D}"/>
              </a:ext>
            </a:extLst>
          </p:cNvPr>
          <p:cNvGrpSpPr/>
          <p:nvPr/>
        </p:nvGrpSpPr>
        <p:grpSpPr>
          <a:xfrm>
            <a:off x="6531429" y="2348190"/>
            <a:ext cx="5138022" cy="2914276"/>
            <a:chOff x="2749421" y="1410255"/>
            <a:chExt cx="8884246" cy="5039127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B00DA9C-8D49-BF26-3E12-59FD8D0D72DB}"/>
                </a:ext>
              </a:extLst>
            </p:cNvPr>
            <p:cNvSpPr/>
            <p:nvPr/>
          </p:nvSpPr>
          <p:spPr>
            <a:xfrm>
              <a:off x="8797161" y="2145049"/>
              <a:ext cx="2836506" cy="4976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ysClr val="windowText" lastClr="000000"/>
                  </a:solidFill>
                </a:rPr>
                <a:t>a1 = pi(s1)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1FC1B79-6F7A-847C-C5CC-8B5F79B79C81}"/>
                </a:ext>
              </a:extLst>
            </p:cNvPr>
            <p:cNvSpPr/>
            <p:nvPr/>
          </p:nvSpPr>
          <p:spPr>
            <a:xfrm>
              <a:off x="2749422" y="2106670"/>
              <a:ext cx="1834030" cy="36975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Layer1</a:t>
              </a:r>
              <a:endParaRPr lang="ko-KR" altLang="en-US" sz="1100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AF6172-C3A1-68F7-2E37-3063ACEA309B}"/>
                </a:ext>
              </a:extLst>
            </p:cNvPr>
            <p:cNvSpPr/>
            <p:nvPr/>
          </p:nvSpPr>
          <p:spPr>
            <a:xfrm>
              <a:off x="2749422" y="3203338"/>
              <a:ext cx="1834030" cy="36975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Layer2</a:t>
              </a:r>
              <a:endParaRPr lang="ko-KR" altLang="en-US" sz="11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597749-DAD4-70FC-D2C7-0C0F004797B2}"/>
                </a:ext>
              </a:extLst>
            </p:cNvPr>
            <p:cNvSpPr/>
            <p:nvPr/>
          </p:nvSpPr>
          <p:spPr>
            <a:xfrm>
              <a:off x="2749422" y="4300007"/>
              <a:ext cx="1834030" cy="36975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LayerN-1</a:t>
              </a:r>
              <a:endParaRPr lang="ko-KR" altLang="en-US" sz="11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474976A-1004-7034-3BDE-0FBA19A4753A}"/>
                </a:ext>
              </a:extLst>
            </p:cNvPr>
            <p:cNvSpPr/>
            <p:nvPr/>
          </p:nvSpPr>
          <p:spPr>
            <a:xfrm>
              <a:off x="2749421" y="5315702"/>
              <a:ext cx="1834030" cy="36975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/>
                <a:t>LayerN</a:t>
              </a:r>
              <a:endParaRPr lang="ko-KR" altLang="en-US" sz="1100" dirty="0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A5FF4852-954A-0363-40B3-F4EB6C3BE4B2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666437" y="2476421"/>
              <a:ext cx="0" cy="7269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0B6ECFFA-4B7D-BE86-E30A-508A8F968FF5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3666437" y="3947319"/>
              <a:ext cx="0" cy="352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CB2807F-47EA-772B-4DDB-6CA5513303DF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3666436" y="4669758"/>
              <a:ext cx="1" cy="64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C3C2D23-D72E-DADF-3F43-59784C5D674F}"/>
                </a:ext>
              </a:extLst>
            </p:cNvPr>
            <p:cNvSpPr/>
            <p:nvPr/>
          </p:nvSpPr>
          <p:spPr>
            <a:xfrm>
              <a:off x="6219063" y="1533083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ysClr val="windowText" lastClr="000000"/>
                  </a:solidFill>
                </a:rPr>
                <a:t>reset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F3060D8-BCE7-027A-3009-ED20861AF7CC}"/>
                </a:ext>
              </a:extLst>
            </p:cNvPr>
            <p:cNvSpPr/>
            <p:nvPr/>
          </p:nvSpPr>
          <p:spPr>
            <a:xfrm>
              <a:off x="6244536" y="2727783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ysClr val="windowText" lastClr="000000"/>
                  </a:solidFill>
                </a:rPr>
                <a:t>step(a1)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37496FBC-4D01-C2FD-4342-80E54A12EFC7}"/>
                </a:ext>
              </a:extLst>
            </p:cNvPr>
            <p:cNvCxnSpPr>
              <a:cxnSpLocks/>
              <a:stCxn id="13" idx="2"/>
              <a:endCxn id="5" idx="3"/>
            </p:cNvCxnSpPr>
            <p:nvPr/>
          </p:nvCxnSpPr>
          <p:spPr>
            <a:xfrm rot="10800000" flipV="1">
              <a:off x="4583452" y="1741394"/>
              <a:ext cx="1635611" cy="55015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18EDEBB6-FDD8-AB03-7C45-7B458480F6A3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V="1">
              <a:off x="4599539" y="2395252"/>
              <a:ext cx="1199898" cy="11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원통형 20">
              <a:extLst>
                <a:ext uri="{FF2B5EF4-FFF2-40B4-BE49-F238E27FC236}">
                  <a16:creationId xmlns:a16="http://schemas.microsoft.com/office/drawing/2014/main" id="{F2D1FDC6-40F3-459F-E7C4-97EAFF0567FA}"/>
                </a:ext>
              </a:extLst>
            </p:cNvPr>
            <p:cNvSpPr/>
            <p:nvPr/>
          </p:nvSpPr>
          <p:spPr>
            <a:xfrm>
              <a:off x="5799436" y="2240517"/>
              <a:ext cx="445100" cy="30946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1</a:t>
              </a:r>
              <a:endParaRPr lang="ko-KR" altLang="en-US" sz="1100" dirty="0"/>
            </a:p>
          </p:txBody>
        </p: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5E49EE9E-E8FF-B132-D82F-887A877DCDB4}"/>
                </a:ext>
              </a:extLst>
            </p:cNvPr>
            <p:cNvCxnSpPr>
              <a:cxnSpLocks/>
              <a:stCxn id="16" idx="2"/>
              <a:endCxn id="6" idx="3"/>
            </p:cNvCxnSpPr>
            <p:nvPr/>
          </p:nvCxnSpPr>
          <p:spPr>
            <a:xfrm rot="10800000" flipV="1">
              <a:off x="4583452" y="2936093"/>
              <a:ext cx="1661085" cy="45212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6099F4F2-9698-9B00-59D7-E79CA991937A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V="1">
              <a:off x="4599539" y="3480652"/>
              <a:ext cx="1199898" cy="11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원통형 31">
              <a:extLst>
                <a:ext uri="{FF2B5EF4-FFF2-40B4-BE49-F238E27FC236}">
                  <a16:creationId xmlns:a16="http://schemas.microsoft.com/office/drawing/2014/main" id="{F2199337-8209-A101-B4B4-3FAF5A0466EC}"/>
                </a:ext>
              </a:extLst>
            </p:cNvPr>
            <p:cNvSpPr/>
            <p:nvPr/>
          </p:nvSpPr>
          <p:spPr>
            <a:xfrm>
              <a:off x="5799436" y="3325917"/>
              <a:ext cx="445100" cy="30946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2</a:t>
              </a:r>
              <a:endParaRPr lang="ko-KR" altLang="en-US" sz="1100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2BECFE4-0ED0-3B70-6475-BF170261A35D}"/>
                </a:ext>
              </a:extLst>
            </p:cNvPr>
            <p:cNvSpPr/>
            <p:nvPr/>
          </p:nvSpPr>
          <p:spPr>
            <a:xfrm>
              <a:off x="6244536" y="3818617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ysClr val="windowText" lastClr="000000"/>
                  </a:solidFill>
                </a:rPr>
                <a:t>step(a2)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41" name="연결선: 꺾임 40">
              <a:extLst>
                <a:ext uri="{FF2B5EF4-FFF2-40B4-BE49-F238E27FC236}">
                  <a16:creationId xmlns:a16="http://schemas.microsoft.com/office/drawing/2014/main" id="{77692034-A16D-DD1A-9580-00CE487011C1}"/>
                </a:ext>
              </a:extLst>
            </p:cNvPr>
            <p:cNvCxnSpPr>
              <a:cxnSpLocks/>
              <a:stCxn id="40" idx="2"/>
              <a:endCxn id="7" idx="3"/>
            </p:cNvCxnSpPr>
            <p:nvPr/>
          </p:nvCxnSpPr>
          <p:spPr>
            <a:xfrm rot="10800000" flipV="1">
              <a:off x="4583452" y="4026928"/>
              <a:ext cx="1661085" cy="45795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6B68EF0B-16F4-556F-0F26-16E242FC6548}"/>
                </a:ext>
              </a:extLst>
            </p:cNvPr>
            <p:cNvSpPr/>
            <p:nvPr/>
          </p:nvSpPr>
          <p:spPr>
            <a:xfrm>
              <a:off x="6298162" y="4832179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ysClr val="windowText" lastClr="000000"/>
                  </a:solidFill>
                </a:rPr>
                <a:t>step(aN_1)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2" name="연결선: 꺾임 51">
              <a:extLst>
                <a:ext uri="{FF2B5EF4-FFF2-40B4-BE49-F238E27FC236}">
                  <a16:creationId xmlns:a16="http://schemas.microsoft.com/office/drawing/2014/main" id="{CA41429B-6090-B9DD-F5B2-B3E87B7A97F4}"/>
                </a:ext>
              </a:extLst>
            </p:cNvPr>
            <p:cNvCxnSpPr>
              <a:cxnSpLocks/>
              <a:stCxn id="51" idx="2"/>
              <a:endCxn id="8" idx="3"/>
            </p:cNvCxnSpPr>
            <p:nvPr/>
          </p:nvCxnSpPr>
          <p:spPr>
            <a:xfrm rot="10800000" flipV="1">
              <a:off x="4583452" y="5040490"/>
              <a:ext cx="1714711" cy="46008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3DD623E-8348-61E6-0A74-E30CF02503C3}"/>
                </a:ext>
              </a:extLst>
            </p:cNvPr>
            <p:cNvSpPr/>
            <p:nvPr/>
          </p:nvSpPr>
          <p:spPr>
            <a:xfrm>
              <a:off x="6244536" y="6032760"/>
              <a:ext cx="2445374" cy="416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ysClr val="windowText" lastClr="000000"/>
                  </a:solidFill>
                </a:rPr>
                <a:t>step(</a:t>
              </a:r>
              <a:r>
                <a:rPr lang="en-US" altLang="ko-KR" sz="1100" b="1" dirty="0" err="1">
                  <a:solidFill>
                    <a:sysClr val="windowText" lastClr="000000"/>
                  </a:solidFill>
                </a:rPr>
                <a:t>aN</a:t>
              </a:r>
              <a:r>
                <a:rPr lang="en-US" altLang="ko-KR" sz="1100" b="1" dirty="0">
                  <a:solidFill>
                    <a:sysClr val="windowText" lastClr="000000"/>
                  </a:solidFill>
                </a:rPr>
                <a:t>)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A5CA31C5-15FF-D328-6DB0-95BE27FDE058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4599539" y="4585176"/>
              <a:ext cx="1199898" cy="11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원통형 59">
              <a:extLst>
                <a:ext uri="{FF2B5EF4-FFF2-40B4-BE49-F238E27FC236}">
                  <a16:creationId xmlns:a16="http://schemas.microsoft.com/office/drawing/2014/main" id="{06A55385-0A44-86C7-4906-A78C1B103DA9}"/>
                </a:ext>
              </a:extLst>
            </p:cNvPr>
            <p:cNvSpPr/>
            <p:nvPr/>
          </p:nvSpPr>
          <p:spPr>
            <a:xfrm>
              <a:off x="5799436" y="4430441"/>
              <a:ext cx="445100" cy="30946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N-1</a:t>
              </a:r>
              <a:endParaRPr lang="ko-KR" altLang="en-US" sz="900" dirty="0"/>
            </a:p>
          </p:txBody>
        </p: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A54EE886-D26E-DB24-8814-1AAEBBC30048}"/>
                </a:ext>
              </a:extLst>
            </p:cNvPr>
            <p:cNvCxnSpPr>
              <a:cxnSpLocks/>
              <a:endCxn id="62" idx="2"/>
            </p:cNvCxnSpPr>
            <p:nvPr/>
          </p:nvCxnSpPr>
          <p:spPr>
            <a:xfrm flipV="1">
              <a:off x="4599539" y="5589897"/>
              <a:ext cx="1199898" cy="11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원통형 61">
              <a:extLst>
                <a:ext uri="{FF2B5EF4-FFF2-40B4-BE49-F238E27FC236}">
                  <a16:creationId xmlns:a16="http://schemas.microsoft.com/office/drawing/2014/main" id="{CF3C71B6-35E1-5A50-D99D-0D4EEE3BC627}"/>
                </a:ext>
              </a:extLst>
            </p:cNvPr>
            <p:cNvSpPr/>
            <p:nvPr/>
          </p:nvSpPr>
          <p:spPr>
            <a:xfrm>
              <a:off x="5799436" y="5435162"/>
              <a:ext cx="445100" cy="309469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N</a:t>
              </a:r>
              <a:endParaRPr lang="ko-KR" altLang="en-US" sz="11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30237E9-95BB-A72C-0914-6175D5D1817B}"/>
                </a:ext>
              </a:extLst>
            </p:cNvPr>
            <p:cNvSpPr txBox="1"/>
            <p:nvPr/>
          </p:nvSpPr>
          <p:spPr>
            <a:xfrm>
              <a:off x="3488342" y="3633638"/>
              <a:ext cx="499476" cy="4523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…</a:t>
              </a:r>
              <a:endParaRPr lang="ko-KR" altLang="en-US" sz="1100" dirty="0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133DAA3B-E725-EF6B-E7DF-7DAF091DE65A}"/>
                </a:ext>
              </a:extLst>
            </p:cNvPr>
            <p:cNvSpPr/>
            <p:nvPr/>
          </p:nvSpPr>
          <p:spPr>
            <a:xfrm>
              <a:off x="8797161" y="3230731"/>
              <a:ext cx="2836506" cy="4976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ysClr val="windowText" lastClr="000000"/>
                  </a:solidFill>
                </a:rPr>
                <a:t>a2 = pi(s2)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E13B5E1A-97DE-8077-19D3-3BCBC85E8108}"/>
                </a:ext>
              </a:extLst>
            </p:cNvPr>
            <p:cNvSpPr/>
            <p:nvPr/>
          </p:nvSpPr>
          <p:spPr>
            <a:xfrm>
              <a:off x="8797161" y="4334546"/>
              <a:ext cx="2836506" cy="4976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ysClr val="windowText" lastClr="000000"/>
                  </a:solidFill>
                </a:rPr>
                <a:t>aN_1 = pi(sN_1)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7C74E7B-5F62-F474-2428-A50B7D26A833}"/>
                </a:ext>
              </a:extLst>
            </p:cNvPr>
            <p:cNvSpPr/>
            <p:nvPr/>
          </p:nvSpPr>
          <p:spPr>
            <a:xfrm>
              <a:off x="8797161" y="5342284"/>
              <a:ext cx="2836506" cy="4976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 err="1">
                  <a:solidFill>
                    <a:sysClr val="windowText" lastClr="000000"/>
                  </a:solidFill>
                </a:rPr>
                <a:t>aN</a:t>
              </a:r>
              <a:r>
                <a:rPr lang="en-US" altLang="ko-KR" sz="1100" b="1" dirty="0">
                  <a:solidFill>
                    <a:sysClr val="windowText" lastClr="000000"/>
                  </a:solidFill>
                </a:rPr>
                <a:t> = pi(</a:t>
              </a:r>
              <a:r>
                <a:rPr lang="en-US" altLang="ko-KR" sz="1100" b="1" dirty="0" err="1">
                  <a:solidFill>
                    <a:sysClr val="windowText" lastClr="000000"/>
                  </a:solidFill>
                </a:rPr>
                <a:t>sN</a:t>
              </a:r>
              <a:r>
                <a:rPr lang="en-US" altLang="ko-KR" sz="1100" b="1" dirty="0">
                  <a:solidFill>
                    <a:sysClr val="windowText" lastClr="000000"/>
                  </a:solidFill>
                </a:rPr>
                <a:t>)</a:t>
              </a:r>
              <a:endParaRPr lang="ko-KR" altLang="en-US" sz="1100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7598A213-85C2-4C8B-401D-72DD95275E09}"/>
                </a:ext>
              </a:extLst>
            </p:cNvPr>
            <p:cNvCxnSpPr>
              <a:cxnSpLocks/>
              <a:stCxn id="21" idx="4"/>
              <a:endCxn id="15" idx="2"/>
            </p:cNvCxnSpPr>
            <p:nvPr/>
          </p:nvCxnSpPr>
          <p:spPr>
            <a:xfrm flipV="1">
              <a:off x="6244536" y="2393866"/>
              <a:ext cx="2552625" cy="138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연결선: 꺾임 79">
              <a:extLst>
                <a:ext uri="{FF2B5EF4-FFF2-40B4-BE49-F238E27FC236}">
                  <a16:creationId xmlns:a16="http://schemas.microsoft.com/office/drawing/2014/main" id="{0AFCCD0A-DCE3-3DB3-5F00-1B512EEE12A9}"/>
                </a:ext>
              </a:extLst>
            </p:cNvPr>
            <p:cNvCxnSpPr>
              <a:cxnSpLocks/>
              <a:stCxn id="32" idx="4"/>
              <a:endCxn id="71" idx="2"/>
            </p:cNvCxnSpPr>
            <p:nvPr/>
          </p:nvCxnSpPr>
          <p:spPr>
            <a:xfrm flipV="1">
              <a:off x="6244536" y="3479548"/>
              <a:ext cx="2552625" cy="11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연결선: 꺾임 82">
              <a:extLst>
                <a:ext uri="{FF2B5EF4-FFF2-40B4-BE49-F238E27FC236}">
                  <a16:creationId xmlns:a16="http://schemas.microsoft.com/office/drawing/2014/main" id="{59337395-12A2-5524-B674-B6DA05B414B9}"/>
                </a:ext>
              </a:extLst>
            </p:cNvPr>
            <p:cNvCxnSpPr>
              <a:cxnSpLocks/>
              <a:stCxn id="60" idx="4"/>
              <a:endCxn id="72" idx="2"/>
            </p:cNvCxnSpPr>
            <p:nvPr/>
          </p:nvCxnSpPr>
          <p:spPr>
            <a:xfrm flipV="1">
              <a:off x="6244536" y="4583363"/>
              <a:ext cx="2552625" cy="181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연결선: 꺾임 85">
              <a:extLst>
                <a:ext uri="{FF2B5EF4-FFF2-40B4-BE49-F238E27FC236}">
                  <a16:creationId xmlns:a16="http://schemas.microsoft.com/office/drawing/2014/main" id="{5AE1A312-5677-84C9-3F42-1B24DB843AB7}"/>
                </a:ext>
              </a:extLst>
            </p:cNvPr>
            <p:cNvCxnSpPr>
              <a:cxnSpLocks/>
              <a:stCxn id="62" idx="4"/>
              <a:endCxn id="73" idx="2"/>
            </p:cNvCxnSpPr>
            <p:nvPr/>
          </p:nvCxnSpPr>
          <p:spPr>
            <a:xfrm>
              <a:off x="6244536" y="5589897"/>
              <a:ext cx="2552625" cy="12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연결선: 구부러짐 90">
              <a:extLst>
                <a:ext uri="{FF2B5EF4-FFF2-40B4-BE49-F238E27FC236}">
                  <a16:creationId xmlns:a16="http://schemas.microsoft.com/office/drawing/2014/main" id="{F8171520-8078-A4B9-801F-068E66EDB298}"/>
                </a:ext>
              </a:extLst>
            </p:cNvPr>
            <p:cNvCxnSpPr>
              <a:stCxn id="21" idx="3"/>
              <a:endCxn id="16" idx="1"/>
            </p:cNvCxnSpPr>
            <p:nvPr/>
          </p:nvCxnSpPr>
          <p:spPr>
            <a:xfrm rot="16200000" flipH="1">
              <a:off x="6192914" y="2379057"/>
              <a:ext cx="238810" cy="580667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연결선: 구부러짐 91">
              <a:extLst>
                <a:ext uri="{FF2B5EF4-FFF2-40B4-BE49-F238E27FC236}">
                  <a16:creationId xmlns:a16="http://schemas.microsoft.com/office/drawing/2014/main" id="{5D385546-883D-396C-D4EE-033D3E9635FC}"/>
                </a:ext>
              </a:extLst>
            </p:cNvPr>
            <p:cNvCxnSpPr>
              <a:cxnSpLocks/>
              <a:stCxn id="32" idx="3"/>
              <a:endCxn id="40" idx="1"/>
            </p:cNvCxnSpPr>
            <p:nvPr/>
          </p:nvCxnSpPr>
          <p:spPr>
            <a:xfrm rot="16200000" flipH="1">
              <a:off x="6190197" y="3467174"/>
              <a:ext cx="244244" cy="58066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연결선: 구부러짐 94">
              <a:extLst>
                <a:ext uri="{FF2B5EF4-FFF2-40B4-BE49-F238E27FC236}">
                  <a16:creationId xmlns:a16="http://schemas.microsoft.com/office/drawing/2014/main" id="{993D98C0-5DD9-98BF-EA17-E02385C67A5B}"/>
                </a:ext>
              </a:extLst>
            </p:cNvPr>
            <p:cNvCxnSpPr>
              <a:cxnSpLocks/>
              <a:stCxn id="60" idx="3"/>
              <a:endCxn id="51" idx="1"/>
            </p:cNvCxnSpPr>
            <p:nvPr/>
          </p:nvCxnSpPr>
          <p:spPr>
            <a:xfrm rot="16200000" flipH="1">
              <a:off x="6262491" y="4499404"/>
              <a:ext cx="153282" cy="63429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연결선: 구부러짐 97">
              <a:extLst>
                <a:ext uri="{FF2B5EF4-FFF2-40B4-BE49-F238E27FC236}">
                  <a16:creationId xmlns:a16="http://schemas.microsoft.com/office/drawing/2014/main" id="{33F47A41-5055-6A8B-7A0E-F0DC6954AC83}"/>
                </a:ext>
              </a:extLst>
            </p:cNvPr>
            <p:cNvCxnSpPr>
              <a:cxnSpLocks/>
              <a:stCxn id="62" idx="3"/>
              <a:endCxn id="58" idx="1"/>
            </p:cNvCxnSpPr>
            <p:nvPr/>
          </p:nvCxnSpPr>
          <p:spPr>
            <a:xfrm rot="16200000" flipH="1">
              <a:off x="6137748" y="5628868"/>
              <a:ext cx="349142" cy="58066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24B6948-34AA-7EEC-1A74-CF8A63374668}"/>
                </a:ext>
              </a:extLst>
            </p:cNvPr>
            <p:cNvSpPr txBox="1"/>
            <p:nvPr/>
          </p:nvSpPr>
          <p:spPr>
            <a:xfrm>
              <a:off x="5710681" y="1410255"/>
              <a:ext cx="441267" cy="4257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7EEE9A3-77EE-7469-6A98-01CC1B9D20FA}"/>
                </a:ext>
              </a:extLst>
            </p:cNvPr>
            <p:cNvSpPr txBox="1"/>
            <p:nvPr/>
          </p:nvSpPr>
          <p:spPr>
            <a:xfrm>
              <a:off x="5034488" y="2353693"/>
              <a:ext cx="441267" cy="4257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B026107-C476-B7EF-0031-C9FD8A1DC826}"/>
                </a:ext>
              </a:extLst>
            </p:cNvPr>
            <p:cNvSpPr txBox="1"/>
            <p:nvPr/>
          </p:nvSpPr>
          <p:spPr>
            <a:xfrm>
              <a:off x="7106217" y="2227561"/>
              <a:ext cx="441267" cy="4257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646B31C-1057-AED3-4E20-CE832AA211E7}"/>
                </a:ext>
              </a:extLst>
            </p:cNvPr>
            <p:cNvSpPr txBox="1"/>
            <p:nvPr/>
          </p:nvSpPr>
          <p:spPr>
            <a:xfrm>
              <a:off x="6191747" y="2544895"/>
              <a:ext cx="441267" cy="4257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4</a:t>
              </a:r>
              <a:endParaRPr lang="ko-KR" altLang="en-US" sz="1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679E2DE-90CA-AAB0-9802-C06E2BF8ECBF}"/>
                </a:ext>
              </a:extLst>
            </p:cNvPr>
            <p:cNvSpPr txBox="1"/>
            <p:nvPr/>
          </p:nvSpPr>
          <p:spPr>
            <a:xfrm>
              <a:off x="5571867" y="2814107"/>
              <a:ext cx="441267" cy="4257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5</a:t>
              </a:r>
              <a:endParaRPr lang="ko-KR" altLang="en-US" sz="1000" dirty="0"/>
            </a:p>
          </p:txBody>
        </p:sp>
      </p:grp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B37841A2-D43A-9D48-1A77-7FBB14CC8C6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3916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ko-KR" sz="1800" b="1" dirty="0"/>
              <a:t>Reset</a:t>
            </a:r>
            <a:r>
              <a:rPr lang="ko-KR" altLang="en-US" sz="1800" b="1" dirty="0"/>
              <a:t> 처리 시에 첫 </a:t>
            </a:r>
            <a:r>
              <a:rPr lang="en-US" altLang="ko-KR" sz="1800" b="1" dirty="0"/>
              <a:t>layer</a:t>
            </a:r>
            <a:r>
              <a:rPr lang="ko-KR" altLang="en-US" sz="1800" b="1" dirty="0"/>
              <a:t>에 대한 양자화 처리에 대한 </a:t>
            </a:r>
            <a:r>
              <a:rPr lang="en-US" altLang="ko-KR" sz="1800" b="1" dirty="0"/>
              <a:t>Inference </a:t>
            </a:r>
            <a:r>
              <a:rPr lang="ko-KR" altLang="en-US" sz="1800" b="1" dirty="0"/>
              <a:t>수행</a:t>
            </a:r>
            <a:endParaRPr lang="en-US" altLang="ko-KR" sz="1800" b="1" dirty="0"/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ko-KR" sz="1800" b="1" dirty="0"/>
              <a:t>Layer1</a:t>
            </a:r>
            <a:r>
              <a:rPr lang="ko-KR" altLang="en-US" sz="1800" b="1" dirty="0"/>
              <a:t>에 대한 통계 정보 생성</a:t>
            </a:r>
            <a:br>
              <a:rPr lang="en-US" altLang="ko-KR" sz="1800" b="1" dirty="0"/>
            </a:br>
            <a:r>
              <a:rPr lang="en-US" altLang="ko-KR" sz="1800" b="1" dirty="0"/>
              <a:t>(MSE, </a:t>
            </a:r>
            <a:r>
              <a:rPr lang="en-US" altLang="ko-KR" sz="1800" b="1" dirty="0" err="1"/>
              <a:t>rmse</a:t>
            </a:r>
            <a:r>
              <a:rPr lang="en-US" altLang="ko-KR" sz="1800" b="1" dirty="0"/>
              <a:t>/scale </a:t>
            </a:r>
            <a:r>
              <a:rPr lang="ko-KR" altLang="en-US" sz="1800" b="1" dirty="0"/>
              <a:t>등 대 부분의 정보 생성</a:t>
            </a:r>
            <a:r>
              <a:rPr lang="en-US" altLang="ko-KR" sz="1800" b="1" dirty="0"/>
              <a:t>)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ko-KR" sz="1800" b="1" dirty="0"/>
              <a:t>2</a:t>
            </a:r>
            <a:r>
              <a:rPr lang="ko-KR" altLang="en-US" sz="1800" b="1" dirty="0"/>
              <a:t>번 정보를 기반으로 </a:t>
            </a:r>
            <a:r>
              <a:rPr lang="en-US" altLang="ko-KR" sz="1800" b="1" dirty="0"/>
              <a:t>state </a:t>
            </a:r>
            <a:r>
              <a:rPr lang="ko-KR" altLang="en-US" sz="1800" b="1" dirty="0"/>
              <a:t>생성 후</a:t>
            </a:r>
            <a:r>
              <a:rPr lang="en-US" altLang="ko-KR" sz="1800" b="1" dirty="0"/>
              <a:t>,</a:t>
            </a:r>
            <a:r>
              <a:rPr lang="ko-KR" altLang="en-US" sz="1800" b="1" dirty="0"/>
              <a:t> 이를 통해</a:t>
            </a:r>
            <a:br>
              <a:rPr lang="en-US" altLang="ko-KR" sz="1800" b="1" dirty="0"/>
            </a:br>
            <a:r>
              <a:rPr lang="en-US" altLang="ko-KR" sz="1800" b="1" dirty="0"/>
              <a:t>PPO </a:t>
            </a:r>
            <a:r>
              <a:rPr lang="ko-KR" altLang="en-US" sz="1800" b="1" dirty="0"/>
              <a:t>모델로 부터 </a:t>
            </a:r>
            <a:r>
              <a:rPr lang="en-US" altLang="ko-KR" sz="1800" b="1" dirty="0"/>
              <a:t>action </a:t>
            </a:r>
            <a:r>
              <a:rPr lang="ko-KR" altLang="en-US" sz="1800" b="1" dirty="0"/>
              <a:t>값 생성</a:t>
            </a:r>
            <a:endParaRPr lang="en-US" altLang="ko-KR" sz="1800" b="1" dirty="0"/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ko-KR" sz="1800" b="1" dirty="0" err="1"/>
              <a:t>env.step</a:t>
            </a:r>
            <a:r>
              <a:rPr lang="en-US" altLang="ko-KR" sz="1800" b="1" dirty="0"/>
              <a:t>(action) </a:t>
            </a:r>
            <a:r>
              <a:rPr lang="ko-KR" altLang="en-US" sz="1800" b="1" dirty="0"/>
              <a:t>수행</a:t>
            </a:r>
            <a:endParaRPr lang="en-US" altLang="ko-KR" sz="1800" b="1" dirty="0"/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ko-KR" sz="1800" b="1" dirty="0"/>
              <a:t>Step </a:t>
            </a:r>
            <a:r>
              <a:rPr lang="ko-KR" altLang="en-US" sz="1800" b="1" dirty="0"/>
              <a:t>함수 내부에서 미리 다음 </a:t>
            </a:r>
            <a:r>
              <a:rPr lang="en-US" altLang="ko-KR" sz="1800" b="1" dirty="0"/>
              <a:t>Layer2</a:t>
            </a:r>
            <a:r>
              <a:rPr lang="ko-KR" altLang="en-US" sz="1800" b="1" dirty="0"/>
              <a:t>에 대한 양자화 처리에 대한 </a:t>
            </a:r>
            <a:r>
              <a:rPr lang="en-US" altLang="ko-KR" sz="1800" b="1" dirty="0"/>
              <a:t>Interference </a:t>
            </a:r>
            <a:r>
              <a:rPr lang="ko-KR" altLang="en-US" sz="1800" b="1" dirty="0"/>
              <a:t>수행</a:t>
            </a:r>
            <a:br>
              <a:rPr lang="en-US" altLang="ko-KR" sz="1800" b="1" dirty="0"/>
            </a:br>
            <a:r>
              <a:rPr lang="en-US" altLang="ko-KR" sz="1800" b="1" dirty="0"/>
              <a:t>(</a:t>
            </a:r>
            <a:r>
              <a:rPr lang="ko-KR" altLang="en-US" sz="1800" b="1" dirty="0"/>
              <a:t>만일 </a:t>
            </a:r>
            <a:r>
              <a:rPr lang="en-US" altLang="ko-KR" sz="1800" b="1" dirty="0"/>
              <a:t>Layer1</a:t>
            </a:r>
            <a:r>
              <a:rPr lang="ko-KR" altLang="en-US" sz="1800" b="1" dirty="0"/>
              <a:t>에 대해 양자화 결정되면 이 또한 포함하여 처리</a:t>
            </a:r>
            <a:r>
              <a:rPr lang="en-US" altLang="ko-KR" sz="1800" b="1" dirty="0"/>
              <a:t>)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ko-KR" sz="1800" b="1" dirty="0"/>
              <a:t>(2 ~ 5)</a:t>
            </a:r>
            <a:r>
              <a:rPr lang="ko-KR" altLang="en-US" sz="1800" b="1" dirty="0"/>
              <a:t>를 계속 반복함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277796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86EF7-3AF2-B9EE-7238-B71EC9BA7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AA213-C64C-EA4A-EE71-CD035D5C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실험 결과</a:t>
            </a:r>
            <a:endParaRPr lang="en-US" altLang="ko-KR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59C33-3316-34D7-13EB-9970E5130CA0}"/>
              </a:ext>
            </a:extLst>
          </p:cNvPr>
          <p:cNvSpPr txBox="1"/>
          <p:nvPr/>
        </p:nvSpPr>
        <p:spPr>
          <a:xfrm>
            <a:off x="944498" y="5392176"/>
            <a:ext cx="104406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에피소드의 매 스텝별로 양자화</a:t>
            </a:r>
            <a:r>
              <a:rPr lang="en-US" altLang="ko-KR" dirty="0"/>
              <a:t>+Inference</a:t>
            </a:r>
            <a:r>
              <a:rPr lang="ko-KR" altLang="en-US" dirty="0"/>
              <a:t>를 거치기 때문에 많은 수의 </a:t>
            </a:r>
            <a:r>
              <a:rPr lang="en-US" altLang="ko-KR" dirty="0"/>
              <a:t>epoch</a:t>
            </a:r>
            <a:r>
              <a:rPr lang="ko-KR" altLang="en-US" dirty="0"/>
              <a:t>를 돌려보지는 못함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전체 </a:t>
            </a:r>
            <a:r>
              <a:rPr lang="en-US" altLang="ko-KR" dirty="0"/>
              <a:t>Reward</a:t>
            </a:r>
            <a:r>
              <a:rPr lang="ko-KR" altLang="en-US" dirty="0"/>
              <a:t>은 </a:t>
            </a:r>
            <a:r>
              <a:rPr lang="en-US" altLang="ko-KR" dirty="0"/>
              <a:t>epoch</a:t>
            </a:r>
            <a:r>
              <a:rPr lang="ko-KR" altLang="en-US" dirty="0"/>
              <a:t>가 진행되면서 점점 증가하는 경향성을 보이며 더불어 양자화 정도도</a:t>
            </a:r>
            <a:br>
              <a:rPr lang="en-US" altLang="ko-KR" dirty="0"/>
            </a:br>
            <a:r>
              <a:rPr lang="ko-KR" altLang="en-US" dirty="0"/>
              <a:t>초반 </a:t>
            </a:r>
            <a:r>
              <a:rPr lang="en-US" altLang="ko-KR" dirty="0"/>
              <a:t>50</a:t>
            </a:r>
            <a:r>
              <a:rPr lang="ko-KR" altLang="en-US" dirty="0"/>
              <a:t>개부터 </a:t>
            </a:r>
            <a:r>
              <a:rPr lang="en-US" altLang="ko-KR" dirty="0"/>
              <a:t>70</a:t>
            </a:r>
            <a:r>
              <a:rPr lang="ko-KR" altLang="en-US" dirty="0"/>
              <a:t>개 이상으로 상승되는 것을 볼 수 있음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MSE</a:t>
            </a:r>
            <a:r>
              <a:rPr lang="ko-KR" altLang="en-US" dirty="0"/>
              <a:t>의 경우 큰 폭으로 낮아지지는 않고 </a:t>
            </a:r>
            <a:r>
              <a:rPr lang="en-US" altLang="ko-KR" dirty="0"/>
              <a:t>10 </a:t>
            </a:r>
            <a:r>
              <a:rPr lang="ko-KR" altLang="en-US" dirty="0"/>
              <a:t>근처에서 변동되며 유지되는 것을 볼 수 있음</a:t>
            </a:r>
            <a:br>
              <a:rPr lang="en-US" altLang="ko-KR" dirty="0"/>
            </a:b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647225-231C-ECE1-DC46-B9A754E5B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9" y="1357671"/>
            <a:ext cx="11631561" cy="387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01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79E52-38F9-6F2B-2469-FD369EB3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695AD-115B-C735-4398-745F83AF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실험 결과</a:t>
            </a:r>
            <a:endParaRPr lang="en-US" altLang="ko-KR" sz="4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B99F7B-486B-AB68-8519-8538AED48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32" y="1639596"/>
            <a:ext cx="11333584" cy="37778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765B0E-545F-7C33-EB2B-CCEA723732C8}"/>
              </a:ext>
            </a:extLst>
          </p:cNvPr>
          <p:cNvSpPr txBox="1"/>
          <p:nvPr/>
        </p:nvSpPr>
        <p:spPr>
          <a:xfrm>
            <a:off x="964163" y="5510553"/>
            <a:ext cx="67397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Epoch 29</a:t>
            </a:r>
            <a:r>
              <a:rPr lang="ko-KR" altLang="en-US" dirty="0"/>
              <a:t>에서 가장 낮은 </a:t>
            </a:r>
            <a:r>
              <a:rPr lang="en-US" altLang="ko-KR" dirty="0"/>
              <a:t>global MSE</a:t>
            </a:r>
            <a:r>
              <a:rPr lang="ko-KR" altLang="en-US" dirty="0"/>
              <a:t>를 기록했음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초반 </a:t>
            </a:r>
            <a:r>
              <a:rPr lang="en-US" altLang="ko-KR" dirty="0"/>
              <a:t>Layer</a:t>
            </a:r>
            <a:r>
              <a:rPr lang="ko-KR" altLang="en-US" dirty="0"/>
              <a:t>의 </a:t>
            </a:r>
            <a:r>
              <a:rPr lang="en-US" altLang="ko-KR" dirty="0"/>
              <a:t>RMSE/Scale</a:t>
            </a:r>
            <a:r>
              <a:rPr lang="ko-KR" altLang="en-US" dirty="0"/>
              <a:t>이 굉장히 높은 값을 가지고 있었음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하지만 해당 </a:t>
            </a:r>
            <a:r>
              <a:rPr lang="en-US" altLang="ko-KR" b="1" dirty="0"/>
              <a:t>MSE</a:t>
            </a:r>
            <a:r>
              <a:rPr lang="ko-KR" altLang="en-US" b="1" dirty="0"/>
              <a:t>가 매우 낮음에도 정확도는 다음과 같았음</a:t>
            </a:r>
            <a:r>
              <a:rPr lang="en-US" altLang="ko-KR" b="1" dirty="0"/>
              <a:t>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Top-1 accuracy: 17.11%, Top-5 accuracy: 46.38%</a:t>
            </a:r>
          </a:p>
        </p:txBody>
      </p:sp>
    </p:spTree>
    <p:extLst>
      <p:ext uri="{BB962C8B-B14F-4D97-AF65-F5344CB8AC3E}">
        <p14:creationId xmlns:p14="http://schemas.microsoft.com/office/powerpoint/2010/main" val="531426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F59B8-5B68-23E9-7DC3-19DC2AEE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BA299-45E9-B24D-C5FF-923F74CDD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실험 결과</a:t>
            </a:r>
            <a:endParaRPr lang="en-US" altLang="ko-KR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9A2FD-B396-3E34-6822-4267BC2E50AF}"/>
              </a:ext>
            </a:extLst>
          </p:cNvPr>
          <p:cNvSpPr txBox="1"/>
          <p:nvPr/>
        </p:nvSpPr>
        <p:spPr>
          <a:xfrm>
            <a:off x="862638" y="5130633"/>
            <a:ext cx="106969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이른 </a:t>
            </a:r>
            <a:r>
              <a:rPr lang="en-US" altLang="ko-KR" dirty="0"/>
              <a:t>Epoch </a:t>
            </a:r>
            <a:r>
              <a:rPr lang="ko-KR" altLang="en-US" dirty="0"/>
              <a:t>말고 좀 더 진행이 된 </a:t>
            </a:r>
            <a:r>
              <a:rPr lang="en-US" altLang="ko-KR" dirty="0"/>
              <a:t>Epoch 166</a:t>
            </a:r>
            <a:r>
              <a:rPr lang="ko-KR" altLang="en-US" dirty="0"/>
              <a:t>에서의 </a:t>
            </a:r>
            <a:r>
              <a:rPr lang="en-US" altLang="ko-KR" dirty="0" err="1"/>
              <a:t>tflite</a:t>
            </a:r>
            <a:r>
              <a:rPr lang="en-US" altLang="ko-KR" dirty="0"/>
              <a:t> </a:t>
            </a:r>
            <a:r>
              <a:rPr lang="ko-KR" altLang="en-US" dirty="0"/>
              <a:t>또한 낮은 정확도를 가짐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때의 </a:t>
            </a:r>
            <a:r>
              <a:rPr lang="en-US" altLang="ko-KR" dirty="0" err="1"/>
              <a:t>tflite</a:t>
            </a:r>
            <a:r>
              <a:rPr lang="ko-KR" altLang="en-US" dirty="0"/>
              <a:t>는 </a:t>
            </a:r>
            <a:r>
              <a:rPr lang="en-US" altLang="ko-KR" dirty="0"/>
              <a:t>Top-1 Accuracy: 5.97%, Top-5 Accuracy: 13.78% </a:t>
            </a:r>
            <a:r>
              <a:rPr lang="ko-KR" altLang="en-US" dirty="0"/>
              <a:t>를 기록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이를 통해 알 수 있는 것은 </a:t>
            </a:r>
            <a:r>
              <a:rPr lang="en-US" altLang="ko-KR" dirty="0"/>
              <a:t>reward</a:t>
            </a:r>
            <a:r>
              <a:rPr lang="ko-KR" altLang="en-US" dirty="0"/>
              <a:t>의 대상이 되는 </a:t>
            </a:r>
            <a:r>
              <a:rPr lang="en-US" altLang="ko-KR" dirty="0"/>
              <a:t>target</a:t>
            </a:r>
            <a:r>
              <a:rPr lang="ko-KR" altLang="en-US" dirty="0"/>
              <a:t>을 </a:t>
            </a:r>
            <a:r>
              <a:rPr lang="en-US" altLang="ko-KR" dirty="0"/>
              <a:t>global MSE</a:t>
            </a:r>
            <a:r>
              <a:rPr lang="ko-KR" altLang="en-US" dirty="0"/>
              <a:t>로 잡은 것은 오류로 </a:t>
            </a:r>
            <a:r>
              <a:rPr lang="ko-KR" altLang="en-US" dirty="0" err="1"/>
              <a:t>보여짐</a:t>
            </a:r>
            <a:r>
              <a:rPr lang="en-US" altLang="ko-KR" dirty="0"/>
              <a:t>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이는 </a:t>
            </a:r>
            <a:r>
              <a:rPr lang="en-US" altLang="ko-KR" dirty="0" err="1"/>
              <a:t>softmax</a:t>
            </a:r>
            <a:r>
              <a:rPr lang="ko-KR" altLang="en-US" dirty="0"/>
              <a:t>로서의 </a:t>
            </a:r>
            <a:r>
              <a:rPr lang="en-US" altLang="ko-KR" dirty="0"/>
              <a:t>max</a:t>
            </a:r>
            <a:r>
              <a:rPr lang="ko-KR" altLang="en-US" dirty="0"/>
              <a:t>로 분류하기 때문에 </a:t>
            </a:r>
            <a:r>
              <a:rPr lang="en-US" altLang="ko-KR" b="1" dirty="0"/>
              <a:t>magnitude </a:t>
            </a:r>
            <a:r>
              <a:rPr lang="ko-KR" altLang="en-US" b="1" dirty="0"/>
              <a:t>차이보단 </a:t>
            </a:r>
            <a:r>
              <a:rPr lang="en-US" altLang="ko-KR" b="1" dirty="0"/>
              <a:t>distribution</a:t>
            </a:r>
            <a:r>
              <a:rPr lang="ko-KR" altLang="en-US" b="1" dirty="0"/>
              <a:t>의 차이가</a:t>
            </a:r>
            <a:br>
              <a:rPr lang="en-US" altLang="ko-KR" b="1" dirty="0"/>
            </a:br>
            <a:r>
              <a:rPr lang="ko-KR" altLang="en-US" b="1" dirty="0"/>
              <a:t>더 중요할 것으로 예상됨</a:t>
            </a:r>
            <a:endParaRPr lang="en-US" altLang="ko-KR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C76562-362E-B3EF-611B-BE05B31C9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41" y="1406898"/>
            <a:ext cx="10937699" cy="364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07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5096E-4F40-82B6-6758-613541CB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94ED1-5A19-D5E0-7B55-515E3D73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실험 결과</a:t>
            </a:r>
            <a:endParaRPr lang="en-US" altLang="ko-KR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B0439-456C-48A6-19AE-061573B1048B}"/>
              </a:ext>
            </a:extLst>
          </p:cNvPr>
          <p:cNvSpPr txBox="1"/>
          <p:nvPr/>
        </p:nvSpPr>
        <p:spPr>
          <a:xfrm>
            <a:off x="862638" y="5130633"/>
            <a:ext cx="99004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또 한가지 특징은 양자화 개수가 더 많더라도 이것과 </a:t>
            </a:r>
            <a:r>
              <a:rPr lang="en-US" altLang="ko-KR" dirty="0"/>
              <a:t>File Size</a:t>
            </a:r>
            <a:r>
              <a:rPr lang="ko-KR" altLang="en-US" dirty="0"/>
              <a:t>간 연관은 </a:t>
            </a:r>
            <a:r>
              <a:rPr lang="en-US" altLang="ko-KR" dirty="0"/>
              <a:t>Linear </a:t>
            </a:r>
            <a:r>
              <a:rPr lang="ko-KR" altLang="en-US" dirty="0"/>
              <a:t>하진 않음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이는 양자화 대상이 </a:t>
            </a:r>
            <a:r>
              <a:rPr lang="en-US" altLang="ko-KR" dirty="0"/>
              <a:t>weight</a:t>
            </a:r>
            <a:r>
              <a:rPr lang="ko-KR" altLang="en-US" dirty="0"/>
              <a:t>가 있는 연산을 했는지가 더 큰 연관성을 가짐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따라서 </a:t>
            </a:r>
            <a:r>
              <a:rPr lang="en-US" altLang="ko-KR" b="1" dirty="0"/>
              <a:t>File Size </a:t>
            </a:r>
            <a:r>
              <a:rPr lang="ko-KR" altLang="en-US" b="1" dirty="0"/>
              <a:t>또한 하나의 </a:t>
            </a:r>
            <a:r>
              <a:rPr lang="en-US" altLang="ko-KR" b="1" dirty="0"/>
              <a:t>reward</a:t>
            </a:r>
            <a:r>
              <a:rPr lang="ko-KR" altLang="en-US" b="1" dirty="0"/>
              <a:t>로서 포함할 수 있을 것으로 예상됨</a:t>
            </a:r>
            <a:endParaRPr lang="en-US" altLang="ko-KR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93DA8C-C6AD-29BA-C655-077F5BB9B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47" y="1367733"/>
            <a:ext cx="3667637" cy="3762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75B4C3-D91E-6321-2647-B93A47F83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173" y="2377524"/>
            <a:ext cx="4753638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05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0AD0-4F3B-FD5D-2B19-608C52B6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08D1A-15BD-16DA-DD5E-40902FFC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결론</a:t>
            </a:r>
            <a:endParaRPr lang="en-US" altLang="ko-KR" sz="40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6E4D9C8-7D63-A2B1-9051-F148C1921DF3}"/>
              </a:ext>
            </a:extLst>
          </p:cNvPr>
          <p:cNvSpPr txBox="1">
            <a:spLocks/>
          </p:cNvSpPr>
          <p:nvPr/>
        </p:nvSpPr>
        <p:spPr>
          <a:xfrm>
            <a:off x="726233" y="1639013"/>
            <a:ext cx="108997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b="1" dirty="0"/>
              <a:t>달성한 것</a:t>
            </a:r>
            <a:endParaRPr lang="en-US" altLang="ko-KR" b="1" dirty="0"/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ReLeQ</a:t>
            </a:r>
            <a:r>
              <a:rPr lang="en-US" altLang="ko-KR" dirty="0"/>
              <a:t> </a:t>
            </a:r>
            <a:r>
              <a:rPr lang="ko-KR" altLang="en-US" dirty="0"/>
              <a:t>에서 소개된 </a:t>
            </a:r>
            <a:r>
              <a:rPr lang="en-US" altLang="ko-KR" dirty="0"/>
              <a:t>framework</a:t>
            </a:r>
            <a:r>
              <a:rPr lang="ko-KR" altLang="en-US" dirty="0"/>
              <a:t>을 직접 </a:t>
            </a:r>
            <a:r>
              <a:rPr lang="en-US" altLang="ko-KR" dirty="0" err="1"/>
              <a:t>tensorflow</a:t>
            </a:r>
            <a:r>
              <a:rPr lang="en-US" altLang="ko-KR" dirty="0"/>
              <a:t> </a:t>
            </a:r>
            <a:r>
              <a:rPr lang="ko-KR" altLang="en-US" dirty="0"/>
              <a:t>기반으로 구현 및 실험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QuantizationDebugger</a:t>
            </a:r>
            <a:r>
              <a:rPr lang="en-US" altLang="ko-KR" dirty="0"/>
              <a:t> </a:t>
            </a:r>
            <a:r>
              <a:rPr lang="ko-KR" altLang="en-US" dirty="0"/>
              <a:t>를 기반으로 한 환경 구성이 가장 어려웠는데</a:t>
            </a:r>
            <a:br>
              <a:rPr lang="en-US" altLang="ko-KR" dirty="0"/>
            </a:br>
            <a:r>
              <a:rPr lang="ko-KR" altLang="en-US" dirty="0"/>
              <a:t>해당 모듈의 버그도 몇 가지 발견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실제 </a:t>
            </a:r>
            <a:r>
              <a:rPr lang="en-US" altLang="ko-KR" dirty="0"/>
              <a:t>PPO </a:t>
            </a:r>
            <a:r>
              <a:rPr lang="ko-KR" altLang="en-US" dirty="0"/>
              <a:t>알고리즘 보다 환경 구성과 </a:t>
            </a:r>
            <a:r>
              <a:rPr lang="en-US" altLang="ko-KR" dirty="0"/>
              <a:t>State/Action/Reward </a:t>
            </a:r>
            <a:r>
              <a:rPr lang="ko-KR" altLang="en-US" dirty="0"/>
              <a:t>설계가</a:t>
            </a:r>
            <a:br>
              <a:rPr lang="en-US" altLang="ko-KR" dirty="0"/>
            </a:br>
            <a:r>
              <a:rPr lang="ko-KR" altLang="en-US" dirty="0"/>
              <a:t>가장 중요함을 인식함</a:t>
            </a:r>
            <a:r>
              <a:rPr lang="en-US" altLang="ko-KR" dirty="0"/>
              <a:t>..</a:t>
            </a:r>
            <a:r>
              <a:rPr lang="ko-KR" altLang="en-US" dirty="0"/>
              <a:t>좀 더 경험적인 영역</a:t>
            </a:r>
            <a:r>
              <a:rPr lang="en-US" altLang="ko-KR" dirty="0"/>
              <a:t>.. </a:t>
            </a:r>
          </a:p>
          <a:p>
            <a:pPr lvl="1">
              <a:lnSpc>
                <a:spcPct val="12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2846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9F950-23AF-6914-366E-5830DCBC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B26C1-0BFC-0EB8-693E-843344154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결론</a:t>
            </a:r>
            <a:endParaRPr lang="en-US" altLang="ko-KR" sz="40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3400CB83-DD47-06A6-719F-98FC3AEA2D5A}"/>
              </a:ext>
            </a:extLst>
          </p:cNvPr>
          <p:cNvSpPr txBox="1">
            <a:spLocks/>
          </p:cNvSpPr>
          <p:nvPr/>
        </p:nvSpPr>
        <p:spPr>
          <a:xfrm>
            <a:off x="726233" y="1639013"/>
            <a:ext cx="108997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b="1" dirty="0"/>
              <a:t>보완 할 것</a:t>
            </a:r>
            <a:endParaRPr lang="en-US" altLang="ko-KR" b="1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Reward </a:t>
            </a:r>
            <a:r>
              <a:rPr lang="ko-KR" altLang="en-US" dirty="0"/>
              <a:t>함수에서 정확도는 어떻게 평가할 것인지가 중요</a:t>
            </a:r>
            <a:r>
              <a:rPr lang="en-US" altLang="ko-KR" dirty="0"/>
              <a:t>..</a:t>
            </a:r>
            <a:br>
              <a:rPr lang="en-US" altLang="ko-KR" dirty="0"/>
            </a:br>
            <a:r>
              <a:rPr lang="en-US" altLang="ko-KR" dirty="0"/>
              <a:t>(e.g. classification, regression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따라 다르게 적용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Vision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r>
              <a:rPr lang="ko-KR" altLang="en-US" dirty="0"/>
              <a:t> 외 </a:t>
            </a:r>
            <a:r>
              <a:rPr lang="en-US" altLang="ko-KR" dirty="0"/>
              <a:t>transformer</a:t>
            </a:r>
            <a:r>
              <a:rPr lang="ko-KR" altLang="en-US" dirty="0"/>
              <a:t>와 같은 다양한 모델에서의 실험 필요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On-policy </a:t>
            </a:r>
            <a:r>
              <a:rPr lang="ko-KR" altLang="en-US" dirty="0"/>
              <a:t>형태로만 실험하고 </a:t>
            </a:r>
            <a:r>
              <a:rPr lang="en-US" altLang="ko-KR" dirty="0"/>
              <a:t>Off-policy</a:t>
            </a:r>
            <a:r>
              <a:rPr lang="ko-KR" altLang="en-US" dirty="0"/>
              <a:t>로는 확인해보지 못함</a:t>
            </a:r>
            <a:br>
              <a:rPr lang="en-US" altLang="ko-KR" dirty="0"/>
            </a:br>
            <a:r>
              <a:rPr lang="en-US" altLang="ko-KR" dirty="0"/>
              <a:t>(e.g. Mobilenetv3</a:t>
            </a:r>
            <a:r>
              <a:rPr lang="ko-KR" altLang="en-US" dirty="0"/>
              <a:t>로 훈련된 모델을 다른 </a:t>
            </a:r>
            <a:r>
              <a:rPr lang="en-US" altLang="ko-KR" dirty="0"/>
              <a:t>Vision Model</a:t>
            </a:r>
            <a:r>
              <a:rPr lang="ko-KR" altLang="en-US" dirty="0"/>
              <a:t>에 적용하거나 </a:t>
            </a:r>
            <a:r>
              <a:rPr lang="en-US" altLang="ko-KR" dirty="0"/>
              <a:t>Mobilenetv3-Large</a:t>
            </a:r>
            <a:r>
              <a:rPr lang="ko-KR" altLang="en-US" dirty="0"/>
              <a:t>로 적용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Op code</a:t>
            </a:r>
            <a:r>
              <a:rPr lang="ko-KR" altLang="en-US" dirty="0"/>
              <a:t>는 </a:t>
            </a:r>
            <a:r>
              <a:rPr lang="en-US" altLang="ko-KR" dirty="0"/>
              <a:t>weight shape</a:t>
            </a:r>
            <a:r>
              <a:rPr lang="ko-KR" altLang="en-US" dirty="0"/>
              <a:t> 등과 함께 </a:t>
            </a:r>
            <a:r>
              <a:rPr lang="en-US" altLang="ko-KR" dirty="0"/>
              <a:t>embedding </a:t>
            </a:r>
            <a:r>
              <a:rPr lang="ko-KR" altLang="en-US" dirty="0"/>
              <a:t>형태로 표현하는 것이 더 좋은 성능을</a:t>
            </a:r>
            <a:br>
              <a:rPr lang="en-US" altLang="ko-KR" dirty="0"/>
            </a:br>
            <a:r>
              <a:rPr lang="ko-KR" altLang="en-US" dirty="0"/>
              <a:t>이끌어낼 것으로 예상됨 </a:t>
            </a:r>
            <a:r>
              <a:rPr lang="en-US" altLang="ko-KR" dirty="0"/>
              <a:t>(</a:t>
            </a:r>
            <a:r>
              <a:rPr lang="ko-KR" altLang="en-US" dirty="0"/>
              <a:t>현재는 </a:t>
            </a:r>
            <a:r>
              <a:rPr lang="en-US" altLang="ko-KR" dirty="0"/>
              <a:t>one-hot</a:t>
            </a:r>
            <a:r>
              <a:rPr lang="ko-KR" altLang="en-US" dirty="0"/>
              <a:t>도 아닌 그냥 다르다는 특징만 있음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Calibration data</a:t>
            </a:r>
            <a:r>
              <a:rPr lang="ko-KR" altLang="en-US" dirty="0"/>
              <a:t>를 </a:t>
            </a:r>
            <a:r>
              <a:rPr lang="en-US" altLang="ko-KR" dirty="0"/>
              <a:t>mini-batch</a:t>
            </a:r>
            <a:r>
              <a:rPr lang="ko-KR" altLang="en-US" dirty="0"/>
              <a:t>가 아닌 </a:t>
            </a:r>
            <a:r>
              <a:rPr lang="en-US" altLang="ko-KR" dirty="0"/>
              <a:t>stochastic </a:t>
            </a:r>
            <a:r>
              <a:rPr lang="ko-KR" altLang="en-US" dirty="0"/>
              <a:t>형태로만 운용하였음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QuantizationDebugger</a:t>
            </a:r>
            <a:r>
              <a:rPr lang="ko-KR" altLang="en-US" dirty="0"/>
              <a:t>의 특성 상 </a:t>
            </a:r>
            <a:r>
              <a:rPr lang="en-US" altLang="ko-KR" dirty="0"/>
              <a:t>CPU</a:t>
            </a:r>
            <a:r>
              <a:rPr lang="ko-KR" altLang="en-US" dirty="0"/>
              <a:t>로만 처리가 가능하기 때문에 통계치를 뽑는 과정을 좀 더 최적화할 방법이 요구됨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좀 더 다양한 규모의 </a:t>
            </a:r>
            <a:r>
              <a:rPr lang="en-US" altLang="ko-KR" dirty="0"/>
              <a:t>PPO</a:t>
            </a:r>
            <a:r>
              <a:rPr lang="ko-KR" altLang="en-US" dirty="0"/>
              <a:t> </a:t>
            </a:r>
            <a:r>
              <a:rPr lang="en-US" altLang="ko-KR" dirty="0"/>
              <a:t>Network</a:t>
            </a:r>
            <a:r>
              <a:rPr lang="ko-KR" altLang="en-US" dirty="0"/>
              <a:t>로서의 실험 필요</a:t>
            </a:r>
            <a:endParaRPr lang="en-US" altLang="ko-KR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3020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11125</TotalTime>
  <Words>1468</Words>
  <Application>Microsoft Office PowerPoint</Application>
  <PresentationFormat>와이드스크린</PresentationFormat>
  <Paragraphs>197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PPO 기반의 자동화된 TensorFlow Lite Mixed-Precision Quantization 연구 및 구현</vt:lpstr>
      <vt:lpstr>Outline</vt:lpstr>
      <vt:lpstr>프로젝트 주제 및 목표</vt:lpstr>
      <vt:lpstr>프로젝트 주제 및 목표</vt:lpstr>
      <vt:lpstr>프로젝트 주제 및 목표</vt:lpstr>
      <vt:lpstr>환경 및 데이터셋 설명</vt:lpstr>
      <vt:lpstr>환경 및 데이터셋 설명</vt:lpstr>
      <vt:lpstr>State, action, reward 설계 설명</vt:lpstr>
      <vt:lpstr>State, action, reward 설계 설명</vt:lpstr>
      <vt:lpstr>State, action, reward 설계 설명</vt:lpstr>
      <vt:lpstr>강화학습 알고리즘</vt:lpstr>
      <vt:lpstr>강화학습 알고리즘</vt:lpstr>
      <vt:lpstr>강화학습 알고리즘</vt:lpstr>
      <vt:lpstr>실험 결과</vt:lpstr>
      <vt:lpstr>실험 결과</vt:lpstr>
      <vt:lpstr>실험 결과</vt:lpstr>
      <vt:lpstr>실험 결과</vt:lpstr>
      <vt:lpstr>결론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최우석</dc:creator>
  <cp:lastModifiedBy>태형 김</cp:lastModifiedBy>
  <cp:revision>78</cp:revision>
  <dcterms:created xsi:type="dcterms:W3CDTF">2025-02-20T04:46:58Z</dcterms:created>
  <dcterms:modified xsi:type="dcterms:W3CDTF">2025-12-07T14:46:29Z</dcterms:modified>
</cp:coreProperties>
</file>